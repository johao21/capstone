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embeddedFontLst>
    <p:embeddedFont>
      <p:font typeface="EB Garamond" pitchFamily="18"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font" Target="fonts/font1.fntdata"/><Relationship Id="rId2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avance de la Fase 2. Estructura: el problema, la solución, lo especificado y diseñado, lo construido hasta hoy, el estado real del plan y los ajustes propuestos.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Proyecto individual: una sola persona cubre gestión, requisitos y diseño, desarrollo y calidad. Es el dato que explica varias decisiones de ingeniería: monolito modular en vez de microservicios, alcance acotado a un patógeno y la necesidad de priorizar el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minuto de contexto: de aquí salen los requisitos. Para un informático es un problema de emparejamiento entre un catálogo (los fagos) y una entrada (la bacteria), resuelto hoy por fuerza bruta en el laboratorio. El modelo publicado (PhageHostLearn, Nature Communications, 2024) lo resuelve como clasificación, pero es código de investigación; el aporte de SIRFA es la ingeniería alrededor: solicitudes, trazabilidad, control de acceso y un banco administrable. Cifra de contexto: 489 aislados con carbapenemasas del ISP entre 2014 y 2017, el 58 % Klebsiella. Si se menciona el 93,8 % del modelo publicado, aclarar que es el acierto en el top-5 in vitro: 15 de 16 aislados con al menos un fago activo, no una exactitud general. Las seis etapas son el flujo objetivo: hoy existen el registro y el pipeline y una parte de la consulta; el modelo, la validación humana, el móvil y el tablero son diseño. La advertencia "no diagnostica ni prescribe" es una constante única en el servidor, que acompaña cada respuesta de recomendación. El foco es Klebsiella pneumoniae, el único patógeno con datos públicos de interacciones fago-hospedador verificadas a nivel de cepa.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objetivo completo y sin prisa. Tres ideas: cubre el proceso entero, del registro del aislado a la recomendación validada; tiene que ser trazable y seguro; y entrega información agregada para vigilancia. Las seis etapas son el flujo objetivo, el destino y no lo construido: hoy existen el registro, el pipeline y una parte de la consulta; el modelo, la validación humana, el móvil y el tablero son diseño. El objetivo específico está en la lámina siguiente; el estado del avance se ve en el cronograma y en resultados obtenidos. La advertencia "no diagnostica ni prescribe" viaja en cada respuesta de recomendación.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específico es uno solo y amplio, y es el mismo texto de la Definición de Proyecto versión 1.1. Cubre el ciclo completo: especificar los requisitos y el diseño, construir los componentes y validar con el plan de pruebas. Es un cambio respecto de la versión 1.0 de la Fase 1, que tenía cinco objetivos específicos (requisitos y diseño, pipeline y banco de fagos, modelo de predicción, plataforma web, y app móvil con calidad); el cambio está propuesto al docente y requiere su conformidad. Decir con franqueza que el Informe de Avance, la SRS y el Documento de Diseño todavía se refieren a los cinco objetivos de la versión 1.0. El estado de cada componente no va en esta lámina: está en el cronograma, en resultados obtenidos y en obstáculos. Si preguntan por el riesgo principal, es el modelo de predicción: el banco aún no tiene interacciones fago-cepa y no puede entrenarse.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Pseudomonas aeruginosa queda como extensión opcional. El banco de 200 fagos no tiene interacciones fago-cepa ni ciclo de vida curado: es la limitación que explica por qué la pantalla de candidatos dice "sin evidencia" en vez de ordenar fagos. El alcance de la app móvil se acotó a consulta y alertas, sin notificaciones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SRS está en la versión 0.2, pendiente de aprobación del docente. Cada requisito tiene identificador, prioridad (Alta, Media, Baja) y método de verificación. La sección de puntos por confirmar lista 10 decisiones abiertas. El riesgo de alcance es real: es un solo desarrollador y hay que acotar lo comprometido.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metodología no cambia en este informe; lo que se ajusta es el orden de construcción. Las semanas son las del plan original: las etapas 1 y 2 se redactaron en la semana 12, por eso figuran con retraso en el cronograma. Los documentos están en versión 0.2, pendientes de la aprobación del docente que cierra cada puerta de control. El control de cambios se aplica desde la aprobación; la solicitud SC-01 está propuesta.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Estados según la guía 2.4: En curso, Con retraso, No iniciado, Completado o Ajustada. Las etapas 1 y 2 estaban en las semanas 5 a 7 del Gantt de la Fase 1; el 29-10 el docente indicó que la entrega 2 debe estar subida el 30-10 y el calendario se ajustó a esa fecha (ajuste A6 del Informe), por eso las semanas de la tabla son las ajustadas. Si preguntan por el Gantt original, decir esas semanas con franqueza. Los documentos aún no están aprobados por el docente. La plataforma web figura En curso porque ya hay una API de 9 endpoints y una web mínima sin autenticación; lo que falta (roles, validación, emisión y tablero) sigue planificado desde la semana 13. Verificar las semanas y los estados contra el cronograma antes de presentar.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con claridad lo que corre hoy de lo previsto en el diseño. Las tres herramientas bioinformáticas pasan por un adaptador común, de modo que el resto del código no depende de cómo falla cada una. Python como lenguaje único evita mezclar lenguajes con las herramientas bioinformáticas y de aprendizaje automático (justificación propia: el Documento de Diseño no la registra). Next.js, React Native, JWT con Argon2id, el modelo ESM-2 con XGBoost y SHAP, y las pruebas de extremo a extremo, rendimiento y seguridad están solo diseñados.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de fondo: un solo desarrollador y 14 semanas efectivas, por eso monolito modular y no microservicios. La API nunca ejecuta herramientas bioinformáticas: solo encola trabajos que los workers toman de la tabla trabajo con FOR UPDATE SKIP LOCKED. Una sola imagen de backend sirve a la API y a los workers. En la demostración la web es una versión mínima en HTML y JavaScript, servida por la API; no es la de Next.js que prevé el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recorrido de una solicitud, de punta a punta, y es lo que se ve en la demostración. Idea central: la API nunca ejecuta las herramientas pesadas; valida, guarda y encola, y responde de inmediato. Paso 1: el navegador envía POST a /api/v1/solicitudes con el FASTA y los datos del aislado. Paso 2: el router solicitudes.py valida los campos y que el FASTA sea válido. Paso 3: registro.py hace todo en una sola transacción, así que se guarda completo o no se guarda nada: copia el archivo a /data/genomas con el hash sha256 como nombre, crea aislado, genoma y solicitud en estado registrada con su fila de historial, y deja un trabajo pipeline pendiente en la cola. Paso 4: el worker revisa la cola cada 5 segundos y reclama la tarea con FOR UPDATE SKIP LOCKED, de modo que dos workers nunca toman la misma. Paso 5: procesar_pipeline pone la solicitud en en_analisis y recorre siete pasos; los tres primeros (validar el FASTA, control de calidad y especie con Mash) pueden terminar la solicitud como rechazada, y un rechazo por datos no se reintenta. Los pasos 4 y 5 corren Kaptive y Prodigal; el 6 guarda la salida cruda en MongoDB y el resumen en PostgreSQL (tabla analisis_genomico). El 7 encola un trabajo de predicción que hoy nadie consume: el modelo no está construido. Paso 6 del flujo: la web consulta el estado cada pocos segundos y lo muestra, sin que el usuario espere con la conexión abierta. Si preguntan por el límite: no hay login y la app corre solo en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para el cliente: no todos los errores se tratan igual, y reintentar solo tiene sentido cuando el problema puede desaparecer solo. Tres casos. Uno: el dato no sirve (FASTA inválido, genoma de mala calidad o especie distinta): se rechaza de inmediato con su motivo y no se reintenta, porque daría el mismo resultado; el rechazo es un resultado válido del trabajo, no una falla. Dos: falla una herramienta externa (Mash, Kaptive o Prodigal no responden, se demoran más del tiempo máximo, terminan con error o no producen salida) o hay un error de archivo: se reintenta, 3 intentos en total, con 30 s de espera tras el primer fallo y 60 s tras el segundo (30 s por 2 elevado al número de fallos menos uno). Si falla el tercero, el trabajo queda fallido y la solicitud pasa a error con el motivo; desde ahí el endpoint reintentar (y el botón de la web) la vuelve a encolar. Reintentar solo se acepta si la solicitud está en error. Tres: un error inesperado, distinto de los anteriores (por ejemplo, MongoDB caído): el worker lo registra, marca el trabajo como fallido sin reintentos y sigue con el siguiente, para que un error no tumbe el servicio. Límite que conviene decir con franqueza si preguntan: en este tercer camino solo se marca el trabajo; la solicitud no pasa a error, así que hoy el botón de reintentar no aplica y habría que reencolar a mano. Datos del código: MAX_INTENTOS = 3 y ESPERA_BASE_SEGUNDOS = 30 en pipeline/trabajos.py.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Persistencia políglota: PostgreSQL guarda lo transaccional y relacional; MongoDB, lo voluminoso o de forma variable (salidas crudas de cada herramienta, anotaciones y vectores). El diagrama muestra las 12 tablas migradas de las 24 diseñadas; se omiten las referencias a usuario para que se lea. Si preguntan por la consistencia: el worker escribe primero en MongoDB y luego confirma la transacción en PostgreSQL con el identificador del documento; si la confirmación falla, queda un documento huérfano, y el comando de reconciliación está en el diseño pero no está construido. Los cuatro diagramas UML (casos de uso con 5 actores y 14 casos, clases, secuencia y componentes) están en el Documento de Diseño v0.2. La asignación de datos cubre la competencia de bases relacionales y no relacionales.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equivalente a la lámina de modelo de negocio de los ejemplos, adaptado a un sistema de apoyo en salud pública que no se vende a un cliente. Las cifras vienen de la presentación de la Fase 1: son estimaciones con precios de mercado y no cotizaciones; si preguntan, decirlo así. El argumento de sostenibilidad es el FONIS (ANID y MINSAL), que cubriría el MVP y cerca de año y medio de operación con el equipo mínimo; conviene revisar las bases vigentes del fondo antes de citar los montos exactos. Lo que sí está verificado hoy: los datos son públicos y gratuitos (tabla de INPHARED y genomas de NCBI) y todas las herramientas son de código abierto. Esta lámina es de 30 segundos: no entrar en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empezar: Docker Desktop abierto, docker compose up -d en la carpeta app y comprobar la ruta /api/v1/salud. Subir el genoma de demostración (HS11286, K. pneumoniae), esperar unos 20 segundos y mostrar calidad, especie, locus K, genes y el historial de estados. Opcional: subir un archivo de otra especie para mostrar el rechazo con motivo, sin reintentos, porque un error de datos no es un error de herramienta. Si algo falla en vivo, pasar al video de respaldo y no intentar arreglar nada delante de la comisión.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con claridad qué está verificado y qué no. La especie se verifica con Mash contra 13 genomas de referencia. Ojo con el alcance de esa prueba: fue con 6 genomas independientes (3 K. pneumoniae, 1 K. variicola, 1 K. quasipneumoniae y 1 E. coli), así que es chica y no estadística, y una especie del complejo sin referencia podría confundirse con la más cercana. El locus K se verificó con Kaptive 3.3.2. Los datos de las pruebas automatizadas son sintéticos. Resultados medidos en una corrida real con docker compose: 200 fagos cargados desde INPHARED y el genoma HS11286 (K. pneumoniae, GCF_000240185.1) procesado en menos de un minuto. Un archivo que no es FASTA de nucleótidos queda rechazado con el motivo. Desde el 28-10 hay una API REST de 9 endpoints y una web mínima en HTML y JavaScript, servida por la misma API y sin autenticación: todo se atribuye a un usuario de demostración. Por la web, HS11286 tarda unos 20 s y queda con KL103 y 5.455 genes; un FASTA inválido se rechaza con el motivo, y uno diminuto queda Rechazado por calidad. Los fagos candidatos no se ordenan: los 200 fagos del banco tienen el ciclo de vida sin curar y no hay interacciones fago-cepa cargadas, y la pantalla lo dice en vez de inventar un ranking. Hay 102 pruebas automatizadas, 24 de ellas de la API. El plan de pruebas se diseña en la etapa 2 y se ejecuta en la semana 15: los 60 casos están definidos en el Documento de Diseño y trazados a los requisitos. El límite, dicho de frente: SQLite en memoria ignora el bloqueo SKIP LOCKED y otras particularidades de PostgreSQL, así que la concurrencia de varios workers no está probada y hoy corre un solo worker; lo que compensa es que pruebas reales con genomas de NCBI encontraron y corrigieron tres errores que las pruebas sintéticas no habían visto. Siguen sin existir el modelo de predicción, el login y la app móvil. Los genomas FASTA de los 200 fagos se descargaron de NCBI por número de acceso (5,5 MB comprimidos, todos válidos); todavía no se analizan: detectar sus proteínas de unión al receptor es el paso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dos primeras causas están declaradas en el Informe: la redacción de las etapas 1 y 2 consumió el tiempo y el entorno retrasó el inicio de la construcción. La tercera es un error propio de gestión del alcance, y conviene decirlo tú primero. La respuesta al retraso es control de cambios, no recortar a ciegas: se explica en la lámina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ajustes son una propuesta para conversar con el docente, no una decisión tomada. La razón de fondo: es un solo desarrollador, el calendario está atrasado y 48 de 66 requisitos funcionales están en prioridad Alta. Priorizar protege la entrega del Informe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mejoras salen de la sección de fuera de alcance del SRS, no son ideas nuevas: otros patógenos, integración con sistemas de laboratorio u hospitalarios y la ficha clínica, validación experimental en laboratorio, y reentrenamiento automático del modelo en operación junto con la priorización de la cola por urgencia. No confundir con los próximos pasos de la lámina anterior: aquellos están dentro del compromiso y son lo que falta construir; estos quedan fuera aunque se reconoce su valor. Dato de diseño que respalda la primera: la especie es un atributo (especie declarada, detectada y del hospedador) y cada modelo declara su especie objetivo, así que sumar Pseudomonas aeruginosa no cambia 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 frase de la presentación de la Fase 1: el aporte es convertir una capacidad predictiva ya demostrada en la literatura en una plataforma operable, con la trazabilidad que exige un contexto clínico. Las conclusiones dicen lo verificable y lo pendiente, sin inflar el avance. Las competencias del perfil que ya se ejercen son requisitos, ciclo de vida, bases de datos relacionales y no relacionales y gestión del proyecto; seguridad y plataformas móviles siguen solo en el diseño. Dejar abierto a preguntas sobre el alcance, el calendario y los ajustes propuestos.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2263A"/>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226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5CC8C4"/>
                </a:solidFill>
                <a:latin typeface="IBM Plex Sans" pitchFamily="34" charset="0"/>
                <a:ea typeface="IBM Plex Sans" pitchFamily="34" charset="-122"/>
                <a:cs typeface="IBM Plex Sans" pitchFamily="34" charset="-120"/>
              </a:rPr>
              <a:t>CAPSTONE PTY4614 · APT122 · FASE 2</a:t>
            </a:r>
            <a:endParaRPr lang="en-US" sz="1400" dirty="0"/>
          </a:p>
        </p:txBody>
      </p:sp>
      <p:sp>
        <p:nvSpPr>
          <p:cNvPr id="3" name="Text 1"/>
          <p:cNvSpPr/>
          <p:nvPr>
            <p:ph type="title"/>
          </p:nvPr>
        </p:nvSpPr>
        <p:spPr>
          <a:xfrm>
            <a:off x="812800" y="2321620"/>
            <a:ext cx="10883392" cy="1244600"/>
          </a:xfrm>
          <a:prstGeom prst="rect">
            <a:avLst/>
          </a:prstGeom>
          <a:noFill/>
          <a:ln/>
        </p:spPr>
        <p:txBody>
          <a:bodyPr wrap="square" lIns="0" tIns="0" rIns="0" bIns="0" rtlCol="0" anchor="t">
            <a:normAutofit/>
          </a:bodyPr>
          <a:lstStyle/>
          <a:p>
            <a:pPr algn="l" indent="0" marL="0">
              <a:lnSpc>
                <a:spcPts val="9600"/>
              </a:lnSpc>
              <a:buNone/>
            </a:pPr>
            <a:r>
              <a:rPr lang="en-US" sz="9600" b="0" i="0" dirty="0">
                <a:solidFill>
                  <a:srgbClr val="F6F7F4"/>
                </a:solidFill>
                <a:latin typeface="EB Garamond" pitchFamily="18" charset="0"/>
                <a:ea typeface="EB Garamond" pitchFamily="18" charset="-122"/>
                <a:cs typeface="EB Garamond" pitchFamily="18" charset="-120"/>
              </a:rPr>
              <a:t>SIRFA</a:t>
            </a:r>
            <a:endParaRPr lang="en-US" sz="9600" dirty="0"/>
          </a:p>
        </p:txBody>
      </p:sp>
      <p:sp>
        <p:nvSpPr>
          <p:cNvPr id="4" name="Text 2"/>
          <p:cNvSpPr/>
          <p:nvPr/>
        </p:nvSpPr>
        <p:spPr>
          <a:xfrm>
            <a:off x="812800" y="3744020"/>
            <a:ext cx="10883392" cy="421580"/>
          </a:xfrm>
          <a:prstGeom prst="rect">
            <a:avLst/>
          </a:prstGeom>
          <a:noFill/>
          <a:ln/>
        </p:spPr>
        <p:txBody>
          <a:bodyPr wrap="square" lIns="0" tIns="0" rIns="0" bIns="0" rtlCol="0" anchor="t">
            <a:normAutofit/>
          </a:bodyPr>
          <a:lstStyle/>
          <a:p>
            <a:pPr algn="l" indent="0" marL="0">
              <a:lnSpc>
                <a:spcPts val="3120"/>
              </a:lnSpc>
              <a:buNone/>
            </a:pPr>
            <a:r>
              <a:rPr lang="en-US" sz="2400" dirty="0">
                <a:solidFill>
                  <a:srgbClr val="F6F7F4"/>
                </a:solidFill>
                <a:latin typeface="IBM Plex Sans" pitchFamily="34" charset="0"/>
                <a:ea typeface="IBM Plex Sans" pitchFamily="34" charset="-122"/>
                <a:cs typeface="IBM Plex Sans" pitchFamily="34" charset="-120"/>
              </a:rPr>
              <a:t>Sistema de Recomendación de Fagos frente a Antibiorresistencia</a:t>
            </a:r>
            <a:endParaRPr lang="en-US" sz="2400" dirty="0"/>
          </a:p>
        </p:txBody>
      </p:sp>
      <p:sp>
        <p:nvSpPr>
          <p:cNvPr id="5" name="Text 3"/>
          <p:cNvSpPr/>
          <p:nvPr/>
        </p:nvSpPr>
        <p:spPr>
          <a:xfrm>
            <a:off x="812800" y="5400179"/>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7F4"/>
                </a:solidFill>
                <a:latin typeface="IBM Plex Sans" pitchFamily="34" charset="0"/>
                <a:ea typeface="IBM Plex Sans" pitchFamily="34" charset="-122"/>
                <a:cs typeface="IBM Plex Sans" pitchFamily="34" charset="-120"/>
              </a:rPr>
              <a:t>Informe de Avance · Johao Ramírez</a:t>
            </a:r>
            <a:endParaRPr lang="en-US" sz="1800" dirty="0"/>
          </a:p>
        </p:txBody>
      </p:sp>
      <p:sp>
        <p:nvSpPr>
          <p:cNvPr id="6" name="Text 4"/>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D3"/>
                </a:solidFill>
                <a:latin typeface="IBM Plex Sans" pitchFamily="34" charset="0"/>
                <a:ea typeface="IBM Plex Sans" pitchFamily="34" charset="-122"/>
                <a:cs typeface="IBM Plex Sans" pitchFamily="34" charset="-120"/>
              </a:rPr>
              <a:t>Ingeniería en Informática · Duoc UC, sede San Joaquín · 30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INTEGRANTES DEL PROYECTO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Un solo desarrollador asume todos los roles del proyecto</a:t>
            </a:r>
            <a:endParaRPr lang="en-US" sz="3200" dirty="0"/>
          </a:p>
        </p:txBody>
      </p:sp>
      <p:sp>
        <p:nvSpPr>
          <p:cNvPr id="4" name="Shape 2"/>
          <p:cNvSpPr/>
          <p:nvPr/>
        </p:nvSpPr>
        <p:spPr>
          <a:xfrm>
            <a:off x="812800" y="1981101"/>
            <a:ext cx="3793034" cy="2438202"/>
          </a:xfrm>
          <a:prstGeom prst="roundRect">
            <a:avLst>
              <a:gd name="adj" fmla="val 4167"/>
            </a:avLst>
          </a:prstGeom>
          <a:solidFill>
            <a:srgbClr val="12263A"/>
          </a:solidFill>
          <a:ln/>
        </p:spPr>
      </p:sp>
      <p:sp>
        <p:nvSpPr>
          <p:cNvPr id="5" name="Text 3"/>
          <p:cNvSpPr/>
          <p:nvPr/>
        </p:nvSpPr>
        <p:spPr>
          <a:xfrm>
            <a:off x="1066800" y="2643981"/>
            <a:ext cx="3383585" cy="505420"/>
          </a:xfrm>
          <a:prstGeom prst="rect">
            <a:avLst/>
          </a:prstGeom>
          <a:noFill/>
          <a:ln/>
        </p:spPr>
        <p:txBody>
          <a:bodyPr wrap="square" lIns="0" tIns="0" rIns="0" bIns="0" rtlCol="0" anchor="t">
            <a:normAutofit/>
          </a:bodyPr>
          <a:lstStyle/>
          <a:p>
            <a:pPr algn="l" indent="0" marL="0">
              <a:lnSpc>
                <a:spcPts val="3780"/>
              </a:lnSpc>
              <a:buNone/>
            </a:pPr>
            <a:r>
              <a:rPr lang="en-US" sz="3600" dirty="0">
                <a:solidFill>
                  <a:srgbClr val="5CC8C4"/>
                </a:solidFill>
                <a:latin typeface="EB Garamond" pitchFamily="18" charset="0"/>
                <a:ea typeface="EB Garamond" pitchFamily="18" charset="-122"/>
                <a:cs typeface="EB Garamond" pitchFamily="18" charset="-120"/>
              </a:rPr>
              <a:t>Johao Ramírez</a:t>
            </a:r>
            <a:endParaRPr lang="en-US" sz="3600" dirty="0"/>
          </a:p>
        </p:txBody>
      </p:sp>
      <p:sp>
        <p:nvSpPr>
          <p:cNvPr id="6" name="Text 4"/>
          <p:cNvSpPr/>
          <p:nvPr/>
        </p:nvSpPr>
        <p:spPr>
          <a:xfrm>
            <a:off x="1066800" y="3200202"/>
            <a:ext cx="338358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F6F7F4"/>
                </a:solidFill>
                <a:latin typeface="IBM Plex Sans" pitchFamily="34" charset="0"/>
                <a:ea typeface="IBM Plex Sans" pitchFamily="34" charset="-122"/>
                <a:cs typeface="IBM Plex Sans" pitchFamily="34" charset="-120"/>
              </a:rPr>
              <a:t>Estudiante de Ingeniería en Informática</a:t>
            </a:r>
            <a:endParaRPr lang="en-US" sz="1400" dirty="0"/>
          </a:p>
        </p:txBody>
      </p:sp>
      <p:sp>
        <p:nvSpPr>
          <p:cNvPr id="7" name="Text 5"/>
          <p:cNvSpPr/>
          <p:nvPr/>
        </p:nvSpPr>
        <p:spPr>
          <a:xfrm>
            <a:off x="1066800" y="3516412"/>
            <a:ext cx="338358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9C7D3"/>
                </a:solidFill>
                <a:latin typeface="IBM Plex Sans" pitchFamily="34" charset="0"/>
                <a:ea typeface="IBM Plex Sans" pitchFamily="34" charset="-122"/>
                <a:cs typeface="IBM Plex Sans" pitchFamily="34" charset="-120"/>
              </a:rPr>
              <a:t>Duoc UC, sede San Joaquín</a:t>
            </a:r>
            <a:endParaRPr lang="en-US" sz="1400" dirty="0"/>
          </a:p>
        </p:txBody>
      </p:sp>
      <p:sp>
        <p:nvSpPr>
          <p:cNvPr id="8" name="Shape 6"/>
          <p:cNvSpPr/>
          <p:nvPr/>
        </p:nvSpPr>
        <p:spPr>
          <a:xfrm>
            <a:off x="4812209" y="1984276"/>
            <a:ext cx="3202484" cy="1136551"/>
          </a:xfrm>
          <a:prstGeom prst="roundRect">
            <a:avLst>
              <a:gd name="adj" fmla="val 8660"/>
            </a:avLst>
          </a:prstGeom>
          <a:solidFill>
            <a:srgbClr val="FFFFFF"/>
          </a:solidFill>
          <a:ln w="6350">
            <a:solidFill>
              <a:srgbClr val="D5DCE1"/>
            </a:solidFill>
            <a:prstDash val="solid"/>
          </a:ln>
        </p:spPr>
      </p:sp>
      <p:sp>
        <p:nvSpPr>
          <p:cNvPr id="9" name="Text 7"/>
          <p:cNvSpPr/>
          <p:nvPr/>
        </p:nvSpPr>
        <p:spPr>
          <a:xfrm>
            <a:off x="4993184" y="2165251"/>
            <a:ext cx="29257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Gestión del proyecto</a:t>
            </a:r>
            <a:endParaRPr lang="en-US" sz="1600" dirty="0"/>
          </a:p>
        </p:txBody>
      </p:sp>
      <p:sp>
        <p:nvSpPr>
          <p:cNvPr id="10" name="Text 8"/>
          <p:cNvSpPr/>
          <p:nvPr/>
        </p:nvSpPr>
        <p:spPr>
          <a:xfrm>
            <a:off x="4993184" y="2459831"/>
            <a:ext cx="29257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Plan de 18 actividades, riesgos y control de cambios</a:t>
            </a:r>
            <a:endParaRPr lang="en-US" sz="1400" dirty="0"/>
          </a:p>
        </p:txBody>
      </p:sp>
      <p:sp>
        <p:nvSpPr>
          <p:cNvPr id="11" name="Shape 9"/>
          <p:cNvSpPr/>
          <p:nvPr/>
        </p:nvSpPr>
        <p:spPr>
          <a:xfrm>
            <a:off x="8173442" y="1984276"/>
            <a:ext cx="3202583" cy="1136551"/>
          </a:xfrm>
          <a:prstGeom prst="roundRect">
            <a:avLst>
              <a:gd name="adj" fmla="val 8660"/>
            </a:avLst>
          </a:prstGeom>
          <a:solidFill>
            <a:srgbClr val="FFFFFF"/>
          </a:solidFill>
          <a:ln w="6350">
            <a:solidFill>
              <a:srgbClr val="D5DCE1"/>
            </a:solidFill>
            <a:prstDash val="solid"/>
          </a:ln>
        </p:spPr>
      </p:sp>
      <p:sp>
        <p:nvSpPr>
          <p:cNvPr id="12" name="Text 10"/>
          <p:cNvSpPr/>
          <p:nvPr/>
        </p:nvSpPr>
        <p:spPr>
          <a:xfrm>
            <a:off x="8354417" y="2165251"/>
            <a:ext cx="29258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Requisitos y diseño</a:t>
            </a:r>
            <a:endParaRPr lang="en-US" sz="1600" dirty="0"/>
          </a:p>
        </p:txBody>
      </p:sp>
      <p:sp>
        <p:nvSpPr>
          <p:cNvPr id="13" name="Text 11"/>
          <p:cNvSpPr/>
          <p:nvPr/>
        </p:nvSpPr>
        <p:spPr>
          <a:xfrm>
            <a:off x="8354417" y="2459831"/>
            <a:ext cx="29258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SRS v0.2 y Documento de Diseño v0.2</a:t>
            </a:r>
            <a:endParaRPr lang="en-US" sz="1400" dirty="0"/>
          </a:p>
        </p:txBody>
      </p:sp>
      <p:sp>
        <p:nvSpPr>
          <p:cNvPr id="14" name="Shape 12"/>
          <p:cNvSpPr/>
          <p:nvPr/>
        </p:nvSpPr>
        <p:spPr>
          <a:xfrm>
            <a:off x="4812209" y="3279577"/>
            <a:ext cx="3202484" cy="1136551"/>
          </a:xfrm>
          <a:prstGeom prst="roundRect">
            <a:avLst>
              <a:gd name="adj" fmla="val 8660"/>
            </a:avLst>
          </a:prstGeom>
          <a:solidFill>
            <a:srgbClr val="FFFFFF"/>
          </a:solidFill>
          <a:ln w="6350">
            <a:solidFill>
              <a:srgbClr val="D5DCE1"/>
            </a:solidFill>
            <a:prstDash val="solid"/>
          </a:ln>
        </p:spPr>
      </p:sp>
      <p:sp>
        <p:nvSpPr>
          <p:cNvPr id="15" name="Text 13"/>
          <p:cNvSpPr/>
          <p:nvPr/>
        </p:nvSpPr>
        <p:spPr>
          <a:xfrm>
            <a:off x="4993184" y="3460552"/>
            <a:ext cx="29257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Desarrollo</a:t>
            </a:r>
            <a:endParaRPr lang="en-US" sz="1600" dirty="0"/>
          </a:p>
        </p:txBody>
      </p:sp>
      <p:sp>
        <p:nvSpPr>
          <p:cNvPr id="16" name="Text 14"/>
          <p:cNvSpPr/>
          <p:nvPr/>
        </p:nvSpPr>
        <p:spPr>
          <a:xfrm>
            <a:off x="4993184" y="3755132"/>
            <a:ext cx="2925750"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Pipeline, API, bases de datos y Docker</a:t>
            </a:r>
            <a:endParaRPr lang="en-US" sz="1400" dirty="0"/>
          </a:p>
        </p:txBody>
      </p:sp>
      <p:sp>
        <p:nvSpPr>
          <p:cNvPr id="17" name="Shape 15"/>
          <p:cNvSpPr/>
          <p:nvPr/>
        </p:nvSpPr>
        <p:spPr>
          <a:xfrm>
            <a:off x="8173442" y="3279577"/>
            <a:ext cx="3202583" cy="1136551"/>
          </a:xfrm>
          <a:prstGeom prst="roundRect">
            <a:avLst>
              <a:gd name="adj" fmla="val 8660"/>
            </a:avLst>
          </a:prstGeom>
          <a:solidFill>
            <a:srgbClr val="FFFFFF"/>
          </a:solidFill>
          <a:ln w="6350">
            <a:solidFill>
              <a:srgbClr val="D5DCE1"/>
            </a:solidFill>
            <a:prstDash val="solid"/>
          </a:ln>
        </p:spPr>
      </p:sp>
      <p:sp>
        <p:nvSpPr>
          <p:cNvPr id="18" name="Text 16"/>
          <p:cNvSpPr/>
          <p:nvPr/>
        </p:nvSpPr>
        <p:spPr>
          <a:xfrm>
            <a:off x="8354417" y="3460552"/>
            <a:ext cx="292585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Calidad</a:t>
            </a:r>
            <a:endParaRPr lang="en-US" sz="1600" dirty="0"/>
          </a:p>
        </p:txBody>
      </p:sp>
      <p:sp>
        <p:nvSpPr>
          <p:cNvPr id="19" name="Text 17"/>
          <p:cNvSpPr/>
          <p:nvPr/>
        </p:nvSpPr>
        <p:spPr>
          <a:xfrm>
            <a:off x="8354417" y="3755132"/>
            <a:ext cx="2925852"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102 pruebas automatizadas y un plan de 60 casos</a:t>
            </a:r>
            <a:endParaRPr lang="en-US" sz="1400" dirty="0"/>
          </a:p>
        </p:txBody>
      </p:sp>
      <p:sp>
        <p:nvSpPr>
          <p:cNvPr id="20" name="Shape 18"/>
          <p:cNvSpPr/>
          <p:nvPr/>
        </p:nvSpPr>
        <p:spPr>
          <a:xfrm>
            <a:off x="831850" y="4673302"/>
            <a:ext cx="0" cy="386060"/>
          </a:xfrm>
          <a:prstGeom prst="line">
            <a:avLst/>
          </a:prstGeom>
          <a:noFill/>
          <a:ln w="38100">
            <a:solidFill>
              <a:srgbClr val="17706F"/>
            </a:solidFill>
            <a:prstDash val="solid"/>
          </a:ln>
        </p:spPr>
      </p:sp>
      <p:sp>
        <p:nvSpPr>
          <p:cNvPr id="21" name="Text 19"/>
          <p:cNvSpPr/>
          <p:nvPr/>
        </p:nvSpPr>
        <p:spPr>
          <a:xfrm>
            <a:off x="1003300" y="4724102"/>
            <a:ext cx="1053020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Por eso el diseño es un monolito modular: una sola persona debe poder mantenerlo en 14 semanas efectivas.</a:t>
            </a:r>
            <a:endParaRPr lang="en-US" sz="1600" dirty="0"/>
          </a:p>
        </p:txBody>
      </p:sp>
      <p:sp>
        <p:nvSpPr>
          <p:cNvPr id="22" name="Text 20"/>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2 / 21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DESCRIPCIÓN DEL PROYECTO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Un problema de emparejamiento resuelto por fuerza bruta</a:t>
            </a:r>
            <a:endParaRPr lang="en-US" sz="3200" dirty="0"/>
          </a:p>
        </p:txBody>
      </p:sp>
      <p:sp>
        <p:nvSpPr>
          <p:cNvPr id="4" name="Shape 2"/>
          <p:cNvSpPr/>
          <p:nvPr/>
        </p:nvSpPr>
        <p:spPr>
          <a:xfrm>
            <a:off x="815975" y="1984276"/>
            <a:ext cx="5168900" cy="2657475"/>
          </a:xfrm>
          <a:prstGeom prst="roundRect">
            <a:avLst>
              <a:gd name="adj" fmla="val 3704"/>
            </a:avLst>
          </a:prstGeom>
          <a:solidFill>
            <a:srgbClr val="FFFFFF"/>
          </a:solidFill>
          <a:ln w="6350">
            <a:solidFill>
              <a:srgbClr val="D5DCE1"/>
            </a:solidFill>
            <a:prstDash val="solid"/>
          </a:ln>
        </p:spPr>
      </p:sp>
      <p:sp>
        <p:nvSpPr>
          <p:cNvPr id="5" name="Text 3"/>
          <p:cNvSpPr/>
          <p:nvPr/>
        </p:nvSpPr>
        <p:spPr>
          <a:xfrm>
            <a:off x="1073150" y="2241451"/>
            <a:ext cx="479418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06F"/>
                </a:solidFill>
                <a:latin typeface="IBM Plex Sans" pitchFamily="34" charset="0"/>
                <a:ea typeface="IBM Plex Sans" pitchFamily="34" charset="-122"/>
                <a:cs typeface="IBM Plex Sans" pitchFamily="34" charset="-120"/>
              </a:rPr>
              <a:t>Problema o dolor</a:t>
            </a:r>
            <a:endParaRPr lang="en-US" sz="1800" dirty="0"/>
          </a:p>
        </p:txBody>
      </p:sp>
      <p:sp>
        <p:nvSpPr>
          <p:cNvPr id="6" name="Text 4"/>
          <p:cNvSpPr/>
          <p:nvPr/>
        </p:nvSpPr>
        <p:spPr>
          <a:xfrm>
            <a:off x="1151382" y="2642691"/>
            <a:ext cx="4708334" cy="176728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Cada fago infecta pocas cepas: el compatible se busca ensayando uno por uno en el laboratorio</a:t>
            </a:r>
            <a:endParaRPr lang="en-US" sz="1400" dirty="0"/>
          </a:p>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El 58 % de 489 aislados con carbapenemasas del ISP (2014 a 2017) era </a:t>
            </a:r>
            <a:r>
              <a:rPr lang="en-US" sz="1400" i="1" dirty="0">
                <a:solidFill>
                  <a:srgbClr val="12263A"/>
                </a:solidFill>
                <a:latin typeface="IBM Plex Sans" pitchFamily="34" charset="0"/>
                <a:ea typeface="IBM Plex Sans" pitchFamily="34" charset="-122"/>
                <a:cs typeface="IBM Plex Sans" pitchFamily="34" charset="-120"/>
              </a:rPr>
              <a:t>Klebsiella</a:t>
            </a:r>
            <a:endParaRPr lang="en-US" sz="1400" dirty="0"/>
          </a:p>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El modelo publicado en 2024 es código de investigación: sin solicitudes, trazabilidad ni control de acceso</a:t>
            </a:r>
            <a:endParaRPr lang="en-US" sz="1400" dirty="0"/>
          </a:p>
        </p:txBody>
      </p:sp>
      <p:sp>
        <p:nvSpPr>
          <p:cNvPr id="7" name="Shape 5"/>
          <p:cNvSpPr/>
          <p:nvPr/>
        </p:nvSpPr>
        <p:spPr>
          <a:xfrm>
            <a:off x="6197600" y="1987451"/>
            <a:ext cx="5175250" cy="2651125"/>
          </a:xfrm>
          <a:prstGeom prst="roundRect">
            <a:avLst>
              <a:gd name="adj" fmla="val 3593"/>
            </a:avLst>
          </a:prstGeom>
          <a:solidFill>
            <a:srgbClr val="E4F1F0"/>
          </a:solidFill>
          <a:ln w="12700">
            <a:solidFill>
              <a:srgbClr val="17706F"/>
            </a:solidFill>
            <a:prstDash val="solid"/>
          </a:ln>
        </p:spPr>
      </p:sp>
      <p:sp>
        <p:nvSpPr>
          <p:cNvPr id="8" name="Text 6"/>
          <p:cNvSpPr/>
          <p:nvPr/>
        </p:nvSpPr>
        <p:spPr>
          <a:xfrm>
            <a:off x="6457950" y="2247801"/>
            <a:ext cx="479418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5251"/>
                </a:solidFill>
                <a:latin typeface="IBM Plex Sans" pitchFamily="34" charset="0"/>
                <a:ea typeface="IBM Plex Sans" pitchFamily="34" charset="-122"/>
                <a:cs typeface="IBM Plex Sans" pitchFamily="34" charset="-120"/>
              </a:rPr>
              <a:t>Propuesta de solución</a:t>
            </a:r>
            <a:endParaRPr lang="en-US" sz="1800" dirty="0"/>
          </a:p>
        </p:txBody>
      </p:sp>
      <p:sp>
        <p:nvSpPr>
          <p:cNvPr id="9" name="Text 7"/>
          <p:cNvSpPr/>
          <p:nvPr/>
        </p:nvSpPr>
        <p:spPr>
          <a:xfrm>
            <a:off x="6536182" y="2649041"/>
            <a:ext cx="4708334" cy="1518444"/>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Un sistema de información que recibe el genoma, lo procesa en segundo plano y propone candidatos</a:t>
            </a:r>
            <a:endParaRPr lang="en-US" sz="1400" dirty="0"/>
          </a:p>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Seis etapas: registro, pipeline, modelo, validación humana, consulta y tablero</a:t>
            </a:r>
            <a:endParaRPr lang="en-US" sz="1400" dirty="0"/>
          </a:p>
          <a:p>
            <a:pPr algn="l" marL="175768" indent="-175768">
              <a:lnSpc>
                <a:spcPts val="1960"/>
              </a:lnSpc>
              <a:buSzPct val="100000"/>
              <a:buChar char="•"/>
            </a:pPr>
            <a:r>
              <a:rPr lang="en-US" sz="1400" dirty="0">
                <a:solidFill>
                  <a:srgbClr val="12263A"/>
                </a:solidFill>
                <a:latin typeface="IBM Plex Sans" pitchFamily="34" charset="0"/>
                <a:ea typeface="IBM Plex Sans" pitchFamily="34" charset="-122"/>
                <a:cs typeface="IBM Plex Sans" pitchFamily="34" charset="-120"/>
              </a:rPr>
              <a:t>No diagnostica ni prescribe: la advertencia viaja en cada respuesta</a:t>
            </a:r>
            <a:endParaRPr lang="en-US" sz="1400" dirty="0"/>
          </a:p>
        </p:txBody>
      </p:sp>
      <p:sp>
        <p:nvSpPr>
          <p:cNvPr id="10" name="Text 8"/>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3 / 21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OBJETIVO GENERAL</a:t>
            </a:r>
            <a:endParaRPr lang="en-US" sz="1200" dirty="0"/>
          </a:p>
        </p:txBody>
      </p:sp>
      <p:sp>
        <p:nvSpPr>
          <p:cNvPr id="3" name="Text 1"/>
          <p:cNvSpPr/>
          <p:nvPr>
            <p:ph type="title"/>
          </p:nvPr>
        </p:nvSpPr>
        <p:spPr>
          <a:xfrm>
            <a:off x="812800" y="12801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6F7F4"/>
                </a:solidFill>
                <a:latin typeface="EB Garamond" pitchFamily="18" charset="0"/>
                <a:ea typeface="EB Garamond" pitchFamily="18" charset="-122"/>
                <a:cs typeface="EB Garamond" pitchFamily="18" charset="-120"/>
              </a:rPr>
              <a:t>Una plataforma que cubre el proceso completo, de punta a punta</a:t>
            </a:r>
            <a:endParaRPr lang="en-US" sz="3200" dirty="0"/>
          </a:p>
        </p:txBody>
      </p:sp>
      <p:sp>
        <p:nvSpPr>
          <p:cNvPr id="4" name="Shape 2"/>
          <p:cNvSpPr/>
          <p:nvPr/>
        </p:nvSpPr>
        <p:spPr>
          <a:xfrm>
            <a:off x="831850" y="1981101"/>
            <a:ext cx="0" cy="1239441"/>
          </a:xfrm>
          <a:prstGeom prst="line">
            <a:avLst/>
          </a:prstGeom>
          <a:noFill/>
          <a:ln w="38100">
            <a:solidFill>
              <a:srgbClr val="5CC8C4"/>
            </a:solidFill>
            <a:prstDash val="solid"/>
          </a:ln>
        </p:spPr>
      </p:sp>
      <p:sp>
        <p:nvSpPr>
          <p:cNvPr id="5" name="Text 3"/>
          <p:cNvSpPr/>
          <p:nvPr/>
        </p:nvSpPr>
        <p:spPr>
          <a:xfrm>
            <a:off x="1003300" y="2031901"/>
            <a:ext cx="10530205" cy="116324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3DCE4"/>
                </a:solidFill>
                <a:latin typeface="IBM Plex Sans" pitchFamily="34" charset="0"/>
                <a:ea typeface="IBM Plex Sans" pitchFamily="34" charset="-122"/>
                <a:cs typeface="IBM Plex Sans" pitchFamily="34" charset="-120"/>
              </a:rPr>
              <a:t>Diseñar, desarrollar y evaluar una plataforma integral de apoyo a la terapia fágica frente a la antibiorresistencia, que gestione de forma trazable y segura el proceso completo, desde el registro de un aislado bacteriano multirresistente hasta la emisión de una recomendación de bacteriófagos validada por especialistas, y que entregue información agregada para la vigilancia de la resistencia antimicrobiana.</a:t>
            </a:r>
            <a:endParaRPr lang="en-US" sz="1600" dirty="0"/>
          </a:p>
        </p:txBody>
      </p:sp>
      <p:sp>
        <p:nvSpPr>
          <p:cNvPr id="6" name="Shape 4"/>
          <p:cNvSpPr/>
          <p:nvPr/>
        </p:nvSpPr>
        <p:spPr>
          <a:xfrm>
            <a:off x="815975" y="3477716"/>
            <a:ext cx="1437184" cy="1335286"/>
          </a:xfrm>
          <a:prstGeom prst="roundRect">
            <a:avLst>
              <a:gd name="adj" fmla="val 7371"/>
            </a:avLst>
          </a:prstGeom>
          <a:solidFill>
            <a:srgbClr val="1B3550"/>
          </a:solidFill>
          <a:ln w="6350">
            <a:solidFill>
              <a:srgbClr val="2E4A66"/>
            </a:solidFill>
            <a:prstDash val="solid"/>
          </a:ln>
        </p:spPr>
      </p:sp>
      <p:sp>
        <p:nvSpPr>
          <p:cNvPr id="7" name="Text 5"/>
          <p:cNvSpPr/>
          <p:nvPr/>
        </p:nvSpPr>
        <p:spPr>
          <a:xfrm>
            <a:off x="971550" y="3633291"/>
            <a:ext cx="1176834"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1</a:t>
            </a:r>
            <a:endParaRPr lang="en-US" sz="2400" dirty="0"/>
          </a:p>
        </p:txBody>
      </p:sp>
      <p:sp>
        <p:nvSpPr>
          <p:cNvPr id="8" name="Text 6"/>
          <p:cNvSpPr/>
          <p:nvPr/>
        </p:nvSpPr>
        <p:spPr>
          <a:xfrm>
            <a:off x="971550" y="3988891"/>
            <a:ext cx="11768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Registro del aislado</a:t>
            </a:r>
            <a:endParaRPr lang="en-US" sz="1300" dirty="0"/>
          </a:p>
        </p:txBody>
      </p:sp>
      <p:sp>
        <p:nvSpPr>
          <p:cNvPr id="9" name="Text 7"/>
          <p:cNvSpPr/>
          <p:nvPr/>
        </p:nvSpPr>
        <p:spPr>
          <a:xfrm>
            <a:off x="2332534" y="3985320"/>
            <a:ext cx="2794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C8C4"/>
                </a:solidFill>
                <a:latin typeface="IBM Plex Sans" pitchFamily="34" charset="0"/>
                <a:ea typeface="IBM Plex Sans" pitchFamily="34" charset="-122"/>
                <a:cs typeface="IBM Plex Sans" pitchFamily="34" charset="-120"/>
              </a:rPr>
              <a:t>→</a:t>
            </a:r>
            <a:endParaRPr lang="en-US" sz="1800" dirty="0"/>
          </a:p>
        </p:txBody>
      </p:sp>
      <p:sp>
        <p:nvSpPr>
          <p:cNvPr id="10" name="Shape 8"/>
          <p:cNvSpPr/>
          <p:nvPr/>
        </p:nvSpPr>
        <p:spPr>
          <a:xfrm>
            <a:off x="2640509" y="3477716"/>
            <a:ext cx="1437283" cy="1335286"/>
          </a:xfrm>
          <a:prstGeom prst="roundRect">
            <a:avLst>
              <a:gd name="adj" fmla="val 7371"/>
            </a:avLst>
          </a:prstGeom>
          <a:solidFill>
            <a:srgbClr val="1B3550"/>
          </a:solidFill>
          <a:ln w="6350">
            <a:solidFill>
              <a:srgbClr val="2E4A66"/>
            </a:solidFill>
            <a:prstDash val="solid"/>
          </a:ln>
        </p:spPr>
      </p:sp>
      <p:sp>
        <p:nvSpPr>
          <p:cNvPr id="11" name="Text 9"/>
          <p:cNvSpPr/>
          <p:nvPr/>
        </p:nvSpPr>
        <p:spPr>
          <a:xfrm>
            <a:off x="2796084" y="3633291"/>
            <a:ext cx="1176933"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2</a:t>
            </a:r>
            <a:endParaRPr lang="en-US" sz="2400" dirty="0"/>
          </a:p>
        </p:txBody>
      </p:sp>
      <p:sp>
        <p:nvSpPr>
          <p:cNvPr id="12" name="Text 10"/>
          <p:cNvSpPr/>
          <p:nvPr/>
        </p:nvSpPr>
        <p:spPr>
          <a:xfrm>
            <a:off x="2796084" y="3988891"/>
            <a:ext cx="117693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Pipeline genómico</a:t>
            </a:r>
            <a:endParaRPr lang="en-US" sz="1300" dirty="0"/>
          </a:p>
        </p:txBody>
      </p:sp>
      <p:sp>
        <p:nvSpPr>
          <p:cNvPr id="13" name="Text 11"/>
          <p:cNvSpPr/>
          <p:nvPr/>
        </p:nvSpPr>
        <p:spPr>
          <a:xfrm>
            <a:off x="4157166" y="3985320"/>
            <a:ext cx="2794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C8C4"/>
                </a:solidFill>
                <a:latin typeface="IBM Plex Sans" pitchFamily="34" charset="0"/>
                <a:ea typeface="IBM Plex Sans" pitchFamily="34" charset="-122"/>
                <a:cs typeface="IBM Plex Sans" pitchFamily="34" charset="-120"/>
              </a:rPr>
              <a:t>→</a:t>
            </a:r>
            <a:endParaRPr lang="en-US" sz="1800" dirty="0"/>
          </a:p>
        </p:txBody>
      </p:sp>
      <p:sp>
        <p:nvSpPr>
          <p:cNvPr id="14" name="Shape 12"/>
          <p:cNvSpPr/>
          <p:nvPr/>
        </p:nvSpPr>
        <p:spPr>
          <a:xfrm>
            <a:off x="4465141" y="3477716"/>
            <a:ext cx="1437184" cy="1335286"/>
          </a:xfrm>
          <a:prstGeom prst="roundRect">
            <a:avLst>
              <a:gd name="adj" fmla="val 7371"/>
            </a:avLst>
          </a:prstGeom>
          <a:solidFill>
            <a:srgbClr val="1B3550"/>
          </a:solidFill>
          <a:ln w="6350">
            <a:solidFill>
              <a:srgbClr val="2E4A66"/>
            </a:solidFill>
            <a:prstDash val="solid"/>
          </a:ln>
        </p:spPr>
      </p:sp>
      <p:sp>
        <p:nvSpPr>
          <p:cNvPr id="15" name="Text 13"/>
          <p:cNvSpPr/>
          <p:nvPr/>
        </p:nvSpPr>
        <p:spPr>
          <a:xfrm>
            <a:off x="4620716" y="3633291"/>
            <a:ext cx="1176834"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3</a:t>
            </a:r>
            <a:endParaRPr lang="en-US" sz="2400" dirty="0"/>
          </a:p>
        </p:txBody>
      </p:sp>
      <p:sp>
        <p:nvSpPr>
          <p:cNvPr id="16" name="Text 14"/>
          <p:cNvSpPr/>
          <p:nvPr/>
        </p:nvSpPr>
        <p:spPr>
          <a:xfrm>
            <a:off x="4620716" y="3988891"/>
            <a:ext cx="11768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Modelo de predicción</a:t>
            </a:r>
            <a:endParaRPr lang="en-US" sz="1300" dirty="0"/>
          </a:p>
        </p:txBody>
      </p:sp>
      <p:sp>
        <p:nvSpPr>
          <p:cNvPr id="17" name="Text 15"/>
          <p:cNvSpPr/>
          <p:nvPr/>
        </p:nvSpPr>
        <p:spPr>
          <a:xfrm>
            <a:off x="5981700" y="3985320"/>
            <a:ext cx="2794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C8C4"/>
                </a:solidFill>
                <a:latin typeface="IBM Plex Sans" pitchFamily="34" charset="0"/>
                <a:ea typeface="IBM Plex Sans" pitchFamily="34" charset="-122"/>
                <a:cs typeface="IBM Plex Sans" pitchFamily="34" charset="-120"/>
              </a:rPr>
              <a:t>→</a:t>
            </a:r>
            <a:endParaRPr lang="en-US" sz="1800" dirty="0"/>
          </a:p>
        </p:txBody>
      </p:sp>
      <p:sp>
        <p:nvSpPr>
          <p:cNvPr id="18" name="Shape 16"/>
          <p:cNvSpPr/>
          <p:nvPr/>
        </p:nvSpPr>
        <p:spPr>
          <a:xfrm>
            <a:off x="6289675" y="3477716"/>
            <a:ext cx="1437283" cy="1335286"/>
          </a:xfrm>
          <a:prstGeom prst="roundRect">
            <a:avLst>
              <a:gd name="adj" fmla="val 7371"/>
            </a:avLst>
          </a:prstGeom>
          <a:solidFill>
            <a:srgbClr val="1B3550"/>
          </a:solidFill>
          <a:ln w="6350">
            <a:solidFill>
              <a:srgbClr val="2E4A66"/>
            </a:solidFill>
            <a:prstDash val="solid"/>
          </a:ln>
        </p:spPr>
      </p:sp>
      <p:sp>
        <p:nvSpPr>
          <p:cNvPr id="19" name="Text 17"/>
          <p:cNvSpPr/>
          <p:nvPr/>
        </p:nvSpPr>
        <p:spPr>
          <a:xfrm>
            <a:off x="6445250" y="3633291"/>
            <a:ext cx="1176933"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4</a:t>
            </a:r>
            <a:endParaRPr lang="en-US" sz="2400" dirty="0"/>
          </a:p>
        </p:txBody>
      </p:sp>
      <p:sp>
        <p:nvSpPr>
          <p:cNvPr id="20" name="Text 18"/>
          <p:cNvSpPr/>
          <p:nvPr/>
        </p:nvSpPr>
        <p:spPr>
          <a:xfrm>
            <a:off x="6445250" y="3988891"/>
            <a:ext cx="1176933"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Validación humana</a:t>
            </a:r>
            <a:endParaRPr lang="en-US" sz="1300" dirty="0"/>
          </a:p>
        </p:txBody>
      </p:sp>
      <p:sp>
        <p:nvSpPr>
          <p:cNvPr id="21" name="Text 19"/>
          <p:cNvSpPr/>
          <p:nvPr/>
        </p:nvSpPr>
        <p:spPr>
          <a:xfrm>
            <a:off x="7806333" y="3985320"/>
            <a:ext cx="2794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C8C4"/>
                </a:solidFill>
                <a:latin typeface="IBM Plex Sans" pitchFamily="34" charset="0"/>
                <a:ea typeface="IBM Plex Sans" pitchFamily="34" charset="-122"/>
                <a:cs typeface="IBM Plex Sans" pitchFamily="34" charset="-120"/>
              </a:rPr>
              <a:t>→</a:t>
            </a:r>
            <a:endParaRPr lang="en-US" sz="1800" dirty="0"/>
          </a:p>
        </p:txBody>
      </p:sp>
      <p:sp>
        <p:nvSpPr>
          <p:cNvPr id="22" name="Shape 20"/>
          <p:cNvSpPr/>
          <p:nvPr/>
        </p:nvSpPr>
        <p:spPr>
          <a:xfrm>
            <a:off x="8114308" y="3477716"/>
            <a:ext cx="1437184" cy="1335286"/>
          </a:xfrm>
          <a:prstGeom prst="roundRect">
            <a:avLst>
              <a:gd name="adj" fmla="val 7371"/>
            </a:avLst>
          </a:prstGeom>
          <a:solidFill>
            <a:srgbClr val="1B3550"/>
          </a:solidFill>
          <a:ln w="6350">
            <a:solidFill>
              <a:srgbClr val="2E4A66"/>
            </a:solidFill>
            <a:prstDash val="solid"/>
          </a:ln>
        </p:spPr>
      </p:sp>
      <p:sp>
        <p:nvSpPr>
          <p:cNvPr id="23" name="Text 21"/>
          <p:cNvSpPr/>
          <p:nvPr/>
        </p:nvSpPr>
        <p:spPr>
          <a:xfrm>
            <a:off x="8269883" y="3633291"/>
            <a:ext cx="1176834"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5</a:t>
            </a:r>
            <a:endParaRPr lang="en-US" sz="2400" dirty="0"/>
          </a:p>
        </p:txBody>
      </p:sp>
      <p:sp>
        <p:nvSpPr>
          <p:cNvPr id="24" name="Text 22"/>
          <p:cNvSpPr/>
          <p:nvPr/>
        </p:nvSpPr>
        <p:spPr>
          <a:xfrm>
            <a:off x="8269883" y="3988891"/>
            <a:ext cx="117683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Consulta de la recomendación</a:t>
            </a:r>
            <a:endParaRPr lang="en-US" sz="1300" dirty="0"/>
          </a:p>
        </p:txBody>
      </p:sp>
      <p:sp>
        <p:nvSpPr>
          <p:cNvPr id="25" name="Text 23"/>
          <p:cNvSpPr/>
          <p:nvPr/>
        </p:nvSpPr>
        <p:spPr>
          <a:xfrm>
            <a:off x="9630866" y="3985320"/>
            <a:ext cx="279400"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CC8C4"/>
                </a:solidFill>
                <a:latin typeface="IBM Plex Sans" pitchFamily="34" charset="0"/>
                <a:ea typeface="IBM Plex Sans" pitchFamily="34" charset="-122"/>
                <a:cs typeface="IBM Plex Sans" pitchFamily="34" charset="-120"/>
              </a:rPr>
              <a:t>→</a:t>
            </a:r>
            <a:endParaRPr lang="en-US" sz="1800" dirty="0"/>
          </a:p>
        </p:txBody>
      </p:sp>
      <p:sp>
        <p:nvSpPr>
          <p:cNvPr id="26" name="Shape 24"/>
          <p:cNvSpPr/>
          <p:nvPr/>
        </p:nvSpPr>
        <p:spPr>
          <a:xfrm>
            <a:off x="9938841" y="3477716"/>
            <a:ext cx="1437184" cy="1335286"/>
          </a:xfrm>
          <a:prstGeom prst="roundRect">
            <a:avLst>
              <a:gd name="adj" fmla="val 7371"/>
            </a:avLst>
          </a:prstGeom>
          <a:solidFill>
            <a:srgbClr val="1B3550"/>
          </a:solidFill>
          <a:ln w="6350">
            <a:solidFill>
              <a:srgbClr val="2E4A66"/>
            </a:solidFill>
            <a:prstDash val="solid"/>
          </a:ln>
        </p:spPr>
      </p:sp>
      <p:sp>
        <p:nvSpPr>
          <p:cNvPr id="27" name="Text 25"/>
          <p:cNvSpPr/>
          <p:nvPr/>
        </p:nvSpPr>
        <p:spPr>
          <a:xfrm>
            <a:off x="10094416" y="3633291"/>
            <a:ext cx="1176834"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5CC8C4"/>
                </a:solidFill>
                <a:latin typeface="EB Garamond" pitchFamily="18" charset="0"/>
                <a:ea typeface="EB Garamond" pitchFamily="18" charset="-122"/>
                <a:cs typeface="EB Garamond" pitchFamily="18" charset="-120"/>
              </a:rPr>
              <a:t>6</a:t>
            </a:r>
            <a:endParaRPr lang="en-US" sz="2400" dirty="0"/>
          </a:p>
        </p:txBody>
      </p:sp>
      <p:sp>
        <p:nvSpPr>
          <p:cNvPr id="28" name="Text 26"/>
          <p:cNvSpPr/>
          <p:nvPr/>
        </p:nvSpPr>
        <p:spPr>
          <a:xfrm>
            <a:off x="10094416" y="3988891"/>
            <a:ext cx="117683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6F7F4"/>
                </a:solidFill>
                <a:latin typeface="IBM Plex Sans" pitchFamily="34" charset="0"/>
                <a:ea typeface="IBM Plex Sans" pitchFamily="34" charset="-122"/>
                <a:cs typeface="IBM Plex Sans" pitchFamily="34" charset="-120"/>
              </a:rPr>
              <a:t>Tablero de cobertura</a:t>
            </a:r>
            <a:endParaRPr lang="en-US" sz="1300" dirty="0"/>
          </a:p>
        </p:txBody>
      </p:sp>
      <p:sp>
        <p:nvSpPr>
          <p:cNvPr id="29" name="Text 27"/>
          <p:cNvSpPr/>
          <p:nvPr/>
        </p:nvSpPr>
        <p:spPr>
          <a:xfrm>
            <a:off x="812800" y="5070177"/>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1C1"/>
                </a:solidFill>
                <a:latin typeface="IBM Plex Sans" pitchFamily="34" charset="0"/>
                <a:ea typeface="IBM Plex Sans" pitchFamily="34" charset="-122"/>
                <a:cs typeface="IBM Plex Sans" pitchFamily="34" charset="-120"/>
              </a:rPr>
              <a:t>SIRFA no diagnostica ni prescribe: entrega candidatos priorizados que un profesional valida antes de emitir.</a:t>
            </a:r>
            <a:endParaRPr lang="en-US" sz="1400" dirty="0"/>
          </a:p>
        </p:txBody>
      </p:sp>
      <p:sp>
        <p:nvSpPr>
          <p:cNvPr id="30" name="Text 28"/>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SIRFA · Informe de Avance</a:t>
            </a:r>
            <a:endParaRPr lang="en-US" sz="1200" dirty="0"/>
          </a:p>
        </p:txBody>
      </p:sp>
      <p:sp>
        <p:nvSpPr>
          <p:cNvPr id="31"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4 / 21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OBJETIVO ESPECÍFICO · PERMITE CUMPLIR EL OBJETIVO GENERAL</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Un objetivo específico, de la especificación a la validación</a:t>
            </a:r>
            <a:endParaRPr lang="en-US" sz="3200" dirty="0"/>
          </a:p>
        </p:txBody>
      </p:sp>
      <p:sp>
        <p:nvSpPr>
          <p:cNvPr id="4" name="Text 2"/>
          <p:cNvSpPr/>
          <p:nvPr/>
        </p:nvSpPr>
        <p:spPr>
          <a:xfrm>
            <a:off x="815975" y="1984276"/>
            <a:ext cx="10560050" cy="1692672"/>
          </a:xfrm>
          <a:prstGeom prst="roundRect">
            <a:avLst>
              <a:gd name="adj" fmla="val 5815"/>
            </a:avLst>
          </a:prstGeom>
          <a:solidFill>
            <a:srgbClr val="FFFFFF"/>
          </a:solidFill>
          <a:ln w="6350">
            <a:solidFill>
              <a:srgbClr val="D5DCE1"/>
            </a:solidFill>
            <a:prstDash val="solid"/>
          </a:ln>
        </p:spPr>
        <p:txBody>
          <a:bodyPr wrap="square" lIns="228347" tIns="177547" rIns="0" bIns="152147" rtlCol="0" anchor="t">
            <a:normAutofit/>
          </a:bodyPr>
          <a:lstStyle/>
          <a:p>
            <a:pPr algn="l" indent="0" marL="0">
              <a:lnSpc>
                <a:spcPts val="2520"/>
              </a:lnSpc>
              <a:buNone/>
            </a:pPr>
            <a:r>
              <a:rPr lang="en-US" sz="1800" dirty="0">
                <a:solidFill>
                  <a:srgbClr val="12263A"/>
                </a:solidFill>
                <a:latin typeface="IBM Plex Sans" pitchFamily="34" charset="0"/>
                <a:ea typeface="IBM Plex Sans" pitchFamily="34" charset="-122"/>
                <a:cs typeface="IBM Plex Sans" pitchFamily="34" charset="-120"/>
              </a:rPr>
              <a:t>Especificar, construir y validar los componentes de la plataforma —pipeline genómico y banco de fagos, modelo de predicción, plataforma web con control de acceso, auditoría y tablero, y aplicación móvil complementaria— siguiendo el ciclo de vida definido y el plan de pruebas unitarias, de integración y de seguridad.</a:t>
            </a:r>
            <a:endParaRPr lang="en-US" sz="1800" dirty="0"/>
          </a:p>
        </p:txBody>
      </p:sp>
      <p:sp>
        <p:nvSpPr>
          <p:cNvPr id="5" name="Shape 3"/>
          <p:cNvSpPr/>
          <p:nvPr/>
        </p:nvSpPr>
        <p:spPr>
          <a:xfrm>
            <a:off x="815975" y="3937298"/>
            <a:ext cx="3206750" cy="1449586"/>
          </a:xfrm>
          <a:prstGeom prst="roundRect">
            <a:avLst>
              <a:gd name="adj" fmla="val 6790"/>
            </a:avLst>
          </a:prstGeom>
          <a:solidFill>
            <a:srgbClr val="FFFFFF"/>
          </a:solidFill>
          <a:ln w="6350">
            <a:solidFill>
              <a:srgbClr val="D5DCE1"/>
            </a:solidFill>
            <a:prstDash val="solid"/>
          </a:ln>
        </p:spPr>
      </p:sp>
      <p:sp>
        <p:nvSpPr>
          <p:cNvPr id="6" name="Text 4"/>
          <p:cNvSpPr/>
          <p:nvPr/>
        </p:nvSpPr>
        <p:spPr>
          <a:xfrm>
            <a:off x="996950" y="4118273"/>
            <a:ext cx="2930144"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Especificar</a:t>
            </a:r>
            <a:endParaRPr lang="en-US" sz="2600" dirty="0"/>
          </a:p>
        </p:txBody>
      </p:sp>
      <p:sp>
        <p:nvSpPr>
          <p:cNvPr id="7" name="Text 5"/>
          <p:cNvSpPr/>
          <p:nvPr/>
        </p:nvSpPr>
        <p:spPr>
          <a:xfrm>
            <a:off x="996950" y="4524673"/>
            <a:ext cx="2930144"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4566A"/>
                </a:solidFill>
                <a:latin typeface="IBM Plex Sans" pitchFamily="34" charset="0"/>
                <a:ea typeface="IBM Plex Sans" pitchFamily="34" charset="-122"/>
                <a:cs typeface="IBM Plex Sans" pitchFamily="34" charset="-120"/>
              </a:rPr>
              <a:t>Requisitos y diseño de la solución</a:t>
            </a:r>
            <a:endParaRPr lang="en-US" sz="1300" dirty="0"/>
          </a:p>
        </p:txBody>
      </p:sp>
      <p:sp>
        <p:nvSpPr>
          <p:cNvPr id="8" name="Text 6"/>
          <p:cNvSpPr/>
          <p:nvPr/>
        </p:nvSpPr>
        <p:spPr>
          <a:xfrm>
            <a:off x="4127500" y="4484291"/>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7706F"/>
                </a:solidFill>
                <a:latin typeface="IBM Plex Sans" pitchFamily="34" charset="0"/>
                <a:ea typeface="IBM Plex Sans" pitchFamily="34" charset="-122"/>
                <a:cs typeface="IBM Plex Sans" pitchFamily="34" charset="-120"/>
              </a:rPr>
              <a:t>→</a:t>
            </a:r>
            <a:endParaRPr lang="en-US" sz="2000" dirty="0"/>
          </a:p>
        </p:txBody>
      </p:sp>
      <p:sp>
        <p:nvSpPr>
          <p:cNvPr id="9" name="Shape 7"/>
          <p:cNvSpPr/>
          <p:nvPr/>
        </p:nvSpPr>
        <p:spPr>
          <a:xfrm>
            <a:off x="4489450" y="3940473"/>
            <a:ext cx="3213100" cy="1443236"/>
          </a:xfrm>
          <a:prstGeom prst="roundRect">
            <a:avLst>
              <a:gd name="adj" fmla="val 6600"/>
            </a:avLst>
          </a:prstGeom>
          <a:solidFill>
            <a:srgbClr val="E4F1F0"/>
          </a:solidFill>
          <a:ln w="12700">
            <a:solidFill>
              <a:srgbClr val="17706F"/>
            </a:solidFill>
            <a:prstDash val="solid"/>
          </a:ln>
        </p:spPr>
      </p:sp>
      <p:sp>
        <p:nvSpPr>
          <p:cNvPr id="10" name="Text 8"/>
          <p:cNvSpPr/>
          <p:nvPr/>
        </p:nvSpPr>
        <p:spPr>
          <a:xfrm>
            <a:off x="4673600" y="4124623"/>
            <a:ext cx="2930144"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0F5251"/>
                </a:solidFill>
                <a:latin typeface="EB Garamond" pitchFamily="18" charset="0"/>
                <a:ea typeface="EB Garamond" pitchFamily="18" charset="-122"/>
                <a:cs typeface="EB Garamond" pitchFamily="18" charset="-120"/>
              </a:rPr>
              <a:t>Construir</a:t>
            </a:r>
            <a:endParaRPr lang="en-US" sz="2600" dirty="0"/>
          </a:p>
        </p:txBody>
      </p:sp>
      <p:sp>
        <p:nvSpPr>
          <p:cNvPr id="11" name="Text 9"/>
          <p:cNvSpPr/>
          <p:nvPr/>
        </p:nvSpPr>
        <p:spPr>
          <a:xfrm>
            <a:off x="4673600" y="4531023"/>
            <a:ext cx="2930144"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4566A"/>
                </a:solidFill>
                <a:latin typeface="IBM Plex Sans" pitchFamily="34" charset="0"/>
                <a:ea typeface="IBM Plex Sans" pitchFamily="34" charset="-122"/>
                <a:cs typeface="IBM Plex Sans" pitchFamily="34" charset="-120"/>
              </a:rPr>
              <a:t>Pipeline y banco de fagos, modelo de predicción, plataforma web y app móvil</a:t>
            </a:r>
            <a:endParaRPr lang="en-US" sz="1300" dirty="0"/>
          </a:p>
        </p:txBody>
      </p:sp>
      <p:sp>
        <p:nvSpPr>
          <p:cNvPr id="12" name="Text 10"/>
          <p:cNvSpPr/>
          <p:nvPr/>
        </p:nvSpPr>
        <p:spPr>
          <a:xfrm>
            <a:off x="7810500" y="4484291"/>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7706F"/>
                </a:solidFill>
                <a:latin typeface="IBM Plex Sans" pitchFamily="34" charset="0"/>
                <a:ea typeface="IBM Plex Sans" pitchFamily="34" charset="-122"/>
                <a:cs typeface="IBM Plex Sans" pitchFamily="34" charset="-120"/>
              </a:rPr>
              <a:t>→</a:t>
            </a:r>
            <a:endParaRPr lang="en-US" sz="2000" dirty="0"/>
          </a:p>
        </p:txBody>
      </p:sp>
      <p:sp>
        <p:nvSpPr>
          <p:cNvPr id="13" name="Shape 11"/>
          <p:cNvSpPr/>
          <p:nvPr/>
        </p:nvSpPr>
        <p:spPr>
          <a:xfrm>
            <a:off x="8169275" y="3937298"/>
            <a:ext cx="3206750" cy="1449586"/>
          </a:xfrm>
          <a:prstGeom prst="roundRect">
            <a:avLst>
              <a:gd name="adj" fmla="val 6790"/>
            </a:avLst>
          </a:prstGeom>
          <a:solidFill>
            <a:srgbClr val="FFFFFF"/>
          </a:solidFill>
          <a:ln w="6350">
            <a:solidFill>
              <a:srgbClr val="D5DCE1"/>
            </a:solidFill>
            <a:prstDash val="solid"/>
          </a:ln>
        </p:spPr>
      </p:sp>
      <p:sp>
        <p:nvSpPr>
          <p:cNvPr id="14" name="Text 12"/>
          <p:cNvSpPr/>
          <p:nvPr/>
        </p:nvSpPr>
        <p:spPr>
          <a:xfrm>
            <a:off x="8350250" y="4118273"/>
            <a:ext cx="2930144"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Validar</a:t>
            </a:r>
            <a:endParaRPr lang="en-US" sz="2600" dirty="0"/>
          </a:p>
        </p:txBody>
      </p:sp>
      <p:sp>
        <p:nvSpPr>
          <p:cNvPr id="15" name="Text 13"/>
          <p:cNvSpPr/>
          <p:nvPr/>
        </p:nvSpPr>
        <p:spPr>
          <a:xfrm>
            <a:off x="8350250" y="4524673"/>
            <a:ext cx="2930144"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4566A"/>
                </a:solidFill>
                <a:latin typeface="IBM Plex Sans" pitchFamily="34" charset="0"/>
                <a:ea typeface="IBM Plex Sans" pitchFamily="34" charset="-122"/>
                <a:cs typeface="IBM Plex Sans" pitchFamily="34" charset="-120"/>
              </a:rPr>
              <a:t>Plan de pruebas unitarias, de integración y de seguridad</a:t>
            </a:r>
            <a:endParaRPr lang="en-US" sz="1300" dirty="0"/>
          </a:p>
        </p:txBody>
      </p:sp>
      <p:sp>
        <p:nvSpPr>
          <p:cNvPr id="16" name="Text 14"/>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5 / 21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ALCANCES Y LIMITACIONES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Un MVP computacional acotado a una bacteria</a:t>
            </a:r>
            <a:endParaRPr lang="en-US" sz="3200" dirty="0"/>
          </a:p>
        </p:txBody>
      </p:sp>
      <p:sp>
        <p:nvSpPr>
          <p:cNvPr id="4" name="Shape 2"/>
          <p:cNvSpPr/>
          <p:nvPr/>
        </p:nvSpPr>
        <p:spPr>
          <a:xfrm>
            <a:off x="819150" y="1987451"/>
            <a:ext cx="3412034" cy="2166243"/>
          </a:xfrm>
          <a:prstGeom prst="roundRect">
            <a:avLst>
              <a:gd name="adj" fmla="val 4397"/>
            </a:avLst>
          </a:prstGeom>
          <a:solidFill>
            <a:srgbClr val="E4F1F0"/>
          </a:solidFill>
          <a:ln w="12700">
            <a:solidFill>
              <a:srgbClr val="17706F"/>
            </a:solidFill>
            <a:prstDash val="solid"/>
          </a:ln>
        </p:spPr>
      </p:sp>
      <p:sp>
        <p:nvSpPr>
          <p:cNvPr id="5" name="Text 3"/>
          <p:cNvSpPr/>
          <p:nvPr/>
        </p:nvSpPr>
        <p:spPr>
          <a:xfrm>
            <a:off x="1028700" y="2197001"/>
            <a:ext cx="30827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5251"/>
                </a:solidFill>
                <a:latin typeface="IBM Plex Sans" pitchFamily="34" charset="0"/>
                <a:ea typeface="IBM Plex Sans" pitchFamily="34" charset="-122"/>
                <a:cs typeface="IBM Plex Sans" pitchFamily="34" charset="-120"/>
              </a:rPr>
              <a:t>Incluido en el MVP</a:t>
            </a:r>
            <a:endParaRPr lang="en-US" sz="1700" dirty="0"/>
          </a:p>
        </p:txBody>
      </p:sp>
      <p:sp>
        <p:nvSpPr>
          <p:cNvPr id="6" name="Text 4"/>
          <p:cNvSpPr/>
          <p:nvPr/>
        </p:nvSpPr>
        <p:spPr>
          <a:xfrm>
            <a:off x="1114044" y="2557661"/>
            <a:ext cx="2989758" cy="1411883"/>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Banco de fagos y pipeline genómico</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Modelo de predicción explicable</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Solicitudes con RBAC y auditoría</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Tablero de cobertura y brechas</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App móvil de consulta y alertas</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Docker y plan de pruebas</a:t>
            </a:r>
            <a:endParaRPr lang="en-US" sz="1300" dirty="0"/>
          </a:p>
        </p:txBody>
      </p:sp>
      <p:sp>
        <p:nvSpPr>
          <p:cNvPr id="7" name="Shape 5"/>
          <p:cNvSpPr/>
          <p:nvPr/>
        </p:nvSpPr>
        <p:spPr>
          <a:xfrm>
            <a:off x="4393109" y="1984276"/>
            <a:ext cx="3405783" cy="2172593"/>
          </a:xfrm>
          <a:prstGeom prst="roundRect">
            <a:avLst>
              <a:gd name="adj" fmla="val 4530"/>
            </a:avLst>
          </a:prstGeom>
          <a:solidFill>
            <a:srgbClr val="FFFFFF"/>
          </a:solidFill>
          <a:ln w="6350">
            <a:solidFill>
              <a:srgbClr val="D5DCE1"/>
            </a:solidFill>
            <a:prstDash val="solid"/>
          </a:ln>
        </p:spPr>
      </p:sp>
      <p:sp>
        <p:nvSpPr>
          <p:cNvPr id="8" name="Text 6"/>
          <p:cNvSpPr/>
          <p:nvPr/>
        </p:nvSpPr>
        <p:spPr>
          <a:xfrm>
            <a:off x="4599484" y="2190651"/>
            <a:ext cx="308282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7706F"/>
                </a:solidFill>
                <a:latin typeface="IBM Plex Sans" pitchFamily="34" charset="0"/>
                <a:ea typeface="IBM Plex Sans" pitchFamily="34" charset="-122"/>
                <a:cs typeface="IBM Plex Sans" pitchFamily="34" charset="-120"/>
              </a:rPr>
              <a:t>Fuera de alcance</a:t>
            </a:r>
            <a:endParaRPr lang="en-US" sz="1700" dirty="0"/>
          </a:p>
        </p:txBody>
      </p:sp>
      <p:sp>
        <p:nvSpPr>
          <p:cNvPr id="9" name="Text 7"/>
          <p:cNvSpPr/>
          <p:nvPr/>
        </p:nvSpPr>
        <p:spPr>
          <a:xfrm>
            <a:off x="4684828" y="2551311"/>
            <a:ext cx="2989860" cy="1180802"/>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Validación experimental en laboratorio</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Diagnóstico o prescripción</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Producción o diseño de fagos</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Datos de pacientes identificables</a:t>
            </a:r>
            <a:endParaRPr lang="en-US" sz="1300" dirty="0"/>
          </a:p>
        </p:txBody>
      </p:sp>
      <p:sp>
        <p:nvSpPr>
          <p:cNvPr id="10" name="Shape 8"/>
          <p:cNvSpPr/>
          <p:nvPr/>
        </p:nvSpPr>
        <p:spPr>
          <a:xfrm>
            <a:off x="7960816" y="1987451"/>
            <a:ext cx="3412034" cy="2166243"/>
          </a:xfrm>
          <a:prstGeom prst="roundRect">
            <a:avLst>
              <a:gd name="adj" fmla="val 4397"/>
            </a:avLst>
          </a:prstGeom>
          <a:solidFill>
            <a:srgbClr val="FFF6E5"/>
          </a:solidFill>
          <a:ln w="12700">
            <a:solidFill>
              <a:srgbClr val="E8A64B"/>
            </a:solidFill>
            <a:prstDash val="solid"/>
          </a:ln>
        </p:spPr>
      </p:sp>
      <p:sp>
        <p:nvSpPr>
          <p:cNvPr id="11" name="Text 9"/>
          <p:cNvSpPr/>
          <p:nvPr/>
        </p:nvSpPr>
        <p:spPr>
          <a:xfrm>
            <a:off x="8170366" y="2197001"/>
            <a:ext cx="30827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A4B00"/>
                </a:solidFill>
                <a:latin typeface="IBM Plex Sans" pitchFamily="34" charset="0"/>
                <a:ea typeface="IBM Plex Sans" pitchFamily="34" charset="-122"/>
                <a:cs typeface="IBM Plex Sans" pitchFamily="34" charset="-120"/>
              </a:rPr>
              <a:t>Limitaciones</a:t>
            </a:r>
            <a:endParaRPr lang="en-US" sz="1700" dirty="0"/>
          </a:p>
        </p:txBody>
      </p:sp>
      <p:sp>
        <p:nvSpPr>
          <p:cNvPr id="12" name="Text 10"/>
          <p:cNvSpPr/>
          <p:nvPr/>
        </p:nvSpPr>
        <p:spPr>
          <a:xfrm>
            <a:off x="8255710" y="2557661"/>
            <a:ext cx="2989758" cy="1411883"/>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Un desarrollador y 14 semanas efectivas</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Foco en </a:t>
            </a:r>
            <a:r>
              <a:rPr lang="en-US" sz="1300" i="1" dirty="0">
                <a:solidFill>
                  <a:srgbClr val="12263A"/>
                </a:solidFill>
                <a:latin typeface="IBM Plex Sans" pitchFamily="34" charset="0"/>
                <a:ea typeface="IBM Plex Sans" pitchFamily="34" charset="-122"/>
                <a:cs typeface="IBM Plex Sans" pitchFamily="34" charset="-120"/>
              </a:rPr>
              <a:t>Klebsiella pneumoniae</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Banco sin interacciones fago-cepa</a:t>
            </a:r>
            <a:endParaRPr lang="en-US" sz="1300" dirty="0"/>
          </a:p>
          <a:p>
            <a:pPr algn="l" marL="168656" indent="-168656">
              <a:lnSpc>
                <a:spcPts val="1820"/>
              </a:lnSpc>
              <a:buSzPct val="100000"/>
              <a:buChar char="•"/>
            </a:pPr>
            <a:r>
              <a:rPr lang="en-US" sz="1300" dirty="0">
                <a:solidFill>
                  <a:srgbClr val="12263A"/>
                </a:solidFill>
                <a:latin typeface="IBM Plex Sans" pitchFamily="34" charset="0"/>
                <a:ea typeface="IBM Plex Sans" pitchFamily="34" charset="-122"/>
                <a:cs typeface="IBM Plex Sans" pitchFamily="34" charset="-120"/>
              </a:rPr>
              <a:t>Cada recomendación es una hipótesis a ensayar</a:t>
            </a:r>
            <a:endParaRPr lang="en-US" sz="1300" dirty="0"/>
          </a:p>
        </p:txBody>
      </p:sp>
      <p:sp>
        <p:nvSpPr>
          <p:cNvPr id="13" name="Text 11"/>
          <p:cNvSpPr/>
          <p:nvPr/>
        </p:nvSpPr>
        <p:spPr>
          <a:xfrm>
            <a:off x="812800" y="4414044"/>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Proyecto 100 % computacional: ninguna recomendación es aplicable clínicamente sin validación previa.</a:t>
            </a:r>
            <a:endParaRPr lang="en-US" sz="1600" dirty="0"/>
          </a:p>
        </p:txBody>
      </p:sp>
      <p:sp>
        <p:nvSpPr>
          <p:cNvPr id="14" name="Text 12"/>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6 / 21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REQUERIMIENTOS · SRS V0.2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6F7F4"/>
                </a:solidFill>
                <a:latin typeface="EB Garamond" pitchFamily="18" charset="0"/>
                <a:ea typeface="EB Garamond" pitchFamily="18" charset="-122"/>
                <a:cs typeface="EB Garamond" pitchFamily="18" charset="-120"/>
              </a:rPr>
              <a:t>El alcance quedó especificado y es trazable</a:t>
            </a:r>
            <a:endParaRPr lang="en-US" sz="3200" dirty="0"/>
          </a:p>
        </p:txBody>
      </p:sp>
      <p:sp>
        <p:nvSpPr>
          <p:cNvPr id="4" name="Shape 2"/>
          <p:cNvSpPr/>
          <p:nvPr/>
        </p:nvSpPr>
        <p:spPr>
          <a:xfrm>
            <a:off x="812800" y="1993801"/>
            <a:ext cx="2489200" cy="0"/>
          </a:xfrm>
          <a:prstGeom prst="line">
            <a:avLst/>
          </a:prstGeom>
          <a:noFill/>
          <a:ln w="25400">
            <a:solidFill>
              <a:srgbClr val="5CC8C4"/>
            </a:solidFill>
            <a:prstDash val="solid"/>
          </a:ln>
        </p:spPr>
      </p:sp>
      <p:sp>
        <p:nvSpPr>
          <p:cNvPr id="5" name="Text 3"/>
          <p:cNvSpPr/>
          <p:nvPr/>
        </p:nvSpPr>
        <p:spPr>
          <a:xfrm>
            <a:off x="812800" y="2158901"/>
            <a:ext cx="2563876"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6F7F4"/>
                </a:solidFill>
                <a:latin typeface="EB Garamond" pitchFamily="18" charset="0"/>
                <a:ea typeface="EB Garamond" pitchFamily="18" charset="-122"/>
                <a:cs typeface="EB Garamond" pitchFamily="18" charset="-120"/>
              </a:rPr>
              <a:t>66</a:t>
            </a:r>
            <a:endParaRPr lang="en-US" sz="6000" dirty="0"/>
          </a:p>
        </p:txBody>
      </p:sp>
      <p:sp>
        <p:nvSpPr>
          <p:cNvPr id="6" name="Text 4"/>
          <p:cNvSpPr/>
          <p:nvPr/>
        </p:nvSpPr>
        <p:spPr>
          <a:xfrm>
            <a:off x="812800" y="297170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DCE4"/>
                </a:solidFill>
                <a:latin typeface="IBM Plex Sans" pitchFamily="34" charset="0"/>
                <a:ea typeface="IBM Plex Sans" pitchFamily="34" charset="-122"/>
                <a:cs typeface="IBM Plex Sans" pitchFamily="34" charset="-120"/>
              </a:rPr>
              <a:t>requisitos funcionales en 9 módulos</a:t>
            </a:r>
            <a:endParaRPr lang="en-US" sz="1400" dirty="0"/>
          </a:p>
        </p:txBody>
      </p:sp>
      <p:sp>
        <p:nvSpPr>
          <p:cNvPr id="7" name="Shape 5"/>
          <p:cNvSpPr/>
          <p:nvPr/>
        </p:nvSpPr>
        <p:spPr>
          <a:xfrm>
            <a:off x="3505200" y="1993801"/>
            <a:ext cx="2489200" cy="0"/>
          </a:xfrm>
          <a:prstGeom prst="line">
            <a:avLst/>
          </a:prstGeom>
          <a:noFill/>
          <a:ln w="25400">
            <a:solidFill>
              <a:srgbClr val="5CC8C4"/>
            </a:solidFill>
            <a:prstDash val="solid"/>
          </a:ln>
        </p:spPr>
      </p:sp>
      <p:sp>
        <p:nvSpPr>
          <p:cNvPr id="8" name="Text 6"/>
          <p:cNvSpPr/>
          <p:nvPr/>
        </p:nvSpPr>
        <p:spPr>
          <a:xfrm>
            <a:off x="3505200" y="2158901"/>
            <a:ext cx="2563876"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6F7F4"/>
                </a:solidFill>
                <a:latin typeface="EB Garamond" pitchFamily="18" charset="0"/>
                <a:ea typeface="EB Garamond" pitchFamily="18" charset="-122"/>
                <a:cs typeface="EB Garamond" pitchFamily="18" charset="-120"/>
              </a:rPr>
              <a:t>33</a:t>
            </a:r>
            <a:endParaRPr lang="en-US" sz="6000" dirty="0"/>
          </a:p>
        </p:txBody>
      </p:sp>
      <p:sp>
        <p:nvSpPr>
          <p:cNvPr id="9" name="Text 7"/>
          <p:cNvSpPr/>
          <p:nvPr/>
        </p:nvSpPr>
        <p:spPr>
          <a:xfrm>
            <a:off x="3505200" y="297170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DCE4"/>
                </a:solidFill>
                <a:latin typeface="IBM Plex Sans" pitchFamily="34" charset="0"/>
                <a:ea typeface="IBM Plex Sans" pitchFamily="34" charset="-122"/>
                <a:cs typeface="IBM Plex Sans" pitchFamily="34" charset="-120"/>
              </a:rPr>
              <a:t>requisitos no funcionales: seguridad, rendimiento y más</a:t>
            </a:r>
            <a:endParaRPr lang="en-US" sz="1400" dirty="0"/>
          </a:p>
        </p:txBody>
      </p:sp>
      <p:sp>
        <p:nvSpPr>
          <p:cNvPr id="10" name="Shape 8"/>
          <p:cNvSpPr/>
          <p:nvPr/>
        </p:nvSpPr>
        <p:spPr>
          <a:xfrm>
            <a:off x="6197600" y="1993801"/>
            <a:ext cx="2489200" cy="0"/>
          </a:xfrm>
          <a:prstGeom prst="line">
            <a:avLst/>
          </a:prstGeom>
          <a:noFill/>
          <a:ln w="25400">
            <a:solidFill>
              <a:srgbClr val="5CC8C4"/>
            </a:solidFill>
            <a:prstDash val="solid"/>
          </a:ln>
        </p:spPr>
      </p:sp>
      <p:sp>
        <p:nvSpPr>
          <p:cNvPr id="11" name="Text 9"/>
          <p:cNvSpPr/>
          <p:nvPr/>
        </p:nvSpPr>
        <p:spPr>
          <a:xfrm>
            <a:off x="6197600" y="2158901"/>
            <a:ext cx="2563876"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6F7F4"/>
                </a:solidFill>
                <a:latin typeface="EB Garamond" pitchFamily="18" charset="0"/>
                <a:ea typeface="EB Garamond" pitchFamily="18" charset="-122"/>
                <a:cs typeface="EB Garamond" pitchFamily="18" charset="-120"/>
              </a:rPr>
              <a:t>18</a:t>
            </a:r>
            <a:endParaRPr lang="en-US" sz="6000" dirty="0"/>
          </a:p>
        </p:txBody>
      </p:sp>
      <p:sp>
        <p:nvSpPr>
          <p:cNvPr id="12" name="Text 10"/>
          <p:cNvSpPr/>
          <p:nvPr/>
        </p:nvSpPr>
        <p:spPr>
          <a:xfrm>
            <a:off x="6197600" y="297170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DCE4"/>
                </a:solidFill>
                <a:latin typeface="IBM Plex Sans" pitchFamily="34" charset="0"/>
                <a:ea typeface="IBM Plex Sans" pitchFamily="34" charset="-122"/>
                <a:cs typeface="IBM Plex Sans" pitchFamily="34" charset="-120"/>
              </a:rPr>
              <a:t>historias de usuario con criterios de aceptación</a:t>
            </a:r>
            <a:endParaRPr lang="en-US" sz="1400" dirty="0"/>
          </a:p>
        </p:txBody>
      </p:sp>
      <p:sp>
        <p:nvSpPr>
          <p:cNvPr id="13" name="Shape 11"/>
          <p:cNvSpPr/>
          <p:nvPr/>
        </p:nvSpPr>
        <p:spPr>
          <a:xfrm>
            <a:off x="8890000" y="1993801"/>
            <a:ext cx="2489200" cy="0"/>
          </a:xfrm>
          <a:prstGeom prst="line">
            <a:avLst/>
          </a:prstGeom>
          <a:noFill/>
          <a:ln w="25400">
            <a:solidFill>
              <a:srgbClr val="5CC8C4"/>
            </a:solidFill>
            <a:prstDash val="solid"/>
          </a:ln>
        </p:spPr>
      </p:sp>
      <p:sp>
        <p:nvSpPr>
          <p:cNvPr id="14" name="Text 12"/>
          <p:cNvSpPr/>
          <p:nvPr/>
        </p:nvSpPr>
        <p:spPr>
          <a:xfrm>
            <a:off x="8890000" y="2158901"/>
            <a:ext cx="2563876"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6F7F4"/>
                </a:solidFill>
                <a:latin typeface="EB Garamond" pitchFamily="18" charset="0"/>
                <a:ea typeface="EB Garamond" pitchFamily="18" charset="-122"/>
                <a:cs typeface="EB Garamond" pitchFamily="18" charset="-120"/>
              </a:rPr>
              <a:t>12</a:t>
            </a:r>
            <a:endParaRPr lang="en-US" sz="6000" dirty="0"/>
          </a:p>
        </p:txBody>
      </p:sp>
      <p:sp>
        <p:nvSpPr>
          <p:cNvPr id="15" name="Text 13"/>
          <p:cNvSpPr/>
          <p:nvPr/>
        </p:nvSpPr>
        <p:spPr>
          <a:xfrm>
            <a:off x="8890000" y="2971701"/>
            <a:ext cx="256387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D3DCE4"/>
                </a:solidFill>
                <a:latin typeface="IBM Plex Sans" pitchFamily="34" charset="0"/>
                <a:ea typeface="IBM Plex Sans" pitchFamily="34" charset="-122"/>
                <a:cs typeface="IBM Plex Sans" pitchFamily="34" charset="-120"/>
              </a:rPr>
              <a:t>reglas de negocio y 9 estados de la solicitud</a:t>
            </a:r>
            <a:endParaRPr lang="en-US" sz="1400" dirty="0"/>
          </a:p>
        </p:txBody>
      </p:sp>
      <p:sp>
        <p:nvSpPr>
          <p:cNvPr id="16" name="Text 14"/>
          <p:cNvSpPr/>
          <p:nvPr/>
        </p:nvSpPr>
        <p:spPr>
          <a:xfrm>
            <a:off x="812800" y="37057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7F4"/>
                </a:solidFill>
                <a:latin typeface="IBM Plex Sans" pitchFamily="34" charset="0"/>
                <a:ea typeface="IBM Plex Sans" pitchFamily="34" charset="-122"/>
                <a:cs typeface="IBM Plex Sans" pitchFamily="34" charset="-120"/>
              </a:rPr>
              <a:t>Cinco roles con permisos distintos: técnico, microbiólogo, clínico, epidemiólogo y administrador.</a:t>
            </a:r>
            <a:endParaRPr lang="en-US" sz="1600" dirty="0"/>
          </a:p>
        </p:txBody>
      </p:sp>
      <p:sp>
        <p:nvSpPr>
          <p:cNvPr id="17" name="Shape 15"/>
          <p:cNvSpPr/>
          <p:nvPr/>
        </p:nvSpPr>
        <p:spPr>
          <a:xfrm>
            <a:off x="831850" y="4244181"/>
            <a:ext cx="0" cy="386060"/>
          </a:xfrm>
          <a:prstGeom prst="line">
            <a:avLst/>
          </a:prstGeom>
          <a:noFill/>
          <a:ln w="38100">
            <a:solidFill>
              <a:srgbClr val="E8A64B"/>
            </a:solidFill>
            <a:prstDash val="solid"/>
          </a:ln>
        </p:spPr>
      </p:sp>
      <p:sp>
        <p:nvSpPr>
          <p:cNvPr id="18" name="Text 16"/>
          <p:cNvSpPr/>
          <p:nvPr/>
        </p:nvSpPr>
        <p:spPr>
          <a:xfrm>
            <a:off x="1003300" y="4294981"/>
            <a:ext cx="1053020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7F4"/>
                </a:solidFill>
                <a:latin typeface="IBM Plex Sans" pitchFamily="34" charset="0"/>
                <a:ea typeface="IBM Plex Sans" pitchFamily="34" charset="-122"/>
                <a:cs typeface="IBM Plex Sans" pitchFamily="34" charset="-120"/>
              </a:rPr>
              <a:t>Riesgo:</a:t>
            </a:r>
            <a:r>
              <a:rPr lang="en-US" sz="1600" dirty="0">
                <a:solidFill>
                  <a:srgbClr val="F6F7F4"/>
                </a:solidFill>
                <a:latin typeface="IBM Plex Sans" pitchFamily="34" charset="0"/>
                <a:ea typeface="IBM Plex Sans" pitchFamily="34" charset="-122"/>
                <a:cs typeface="IBM Plex Sans" pitchFamily="34" charset="-120"/>
              </a:rPr>
              <a:t> 48 de los 66 requisitos funcionales quedaron en prioridad Alta; hay que priorizar.</a:t>
            </a:r>
            <a:endParaRPr lang="en-US" sz="1600" dirty="0"/>
          </a:p>
        </p:txBody>
      </p:sp>
      <p:sp>
        <p:nvSpPr>
          <p:cNvPr id="19" name="Text 17"/>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SIRFA · Informe de Avance</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7 / 21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METODOLOGÍA DE TRABAJO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Cascada con puertas de control entre cinco etapas</a:t>
            </a:r>
            <a:endParaRPr lang="en-US" sz="3200" dirty="0"/>
          </a:p>
        </p:txBody>
      </p:sp>
      <p:sp>
        <p:nvSpPr>
          <p:cNvPr id="4" name="Shape 2"/>
          <p:cNvSpPr/>
          <p:nvPr/>
        </p:nvSpPr>
        <p:spPr>
          <a:xfrm>
            <a:off x="815975" y="1984276"/>
            <a:ext cx="2025650" cy="2043807"/>
          </a:xfrm>
          <a:prstGeom prst="roundRect">
            <a:avLst>
              <a:gd name="adj" fmla="val 4859"/>
            </a:avLst>
          </a:prstGeom>
          <a:solidFill>
            <a:srgbClr val="FFFFFF"/>
          </a:solidFill>
          <a:ln w="6350">
            <a:solidFill>
              <a:srgbClr val="D5DCE1"/>
            </a:solidFill>
            <a:prstDash val="solid"/>
          </a:ln>
        </p:spPr>
      </p:sp>
      <p:sp>
        <p:nvSpPr>
          <p:cNvPr id="5" name="Text 3"/>
          <p:cNvSpPr/>
          <p:nvPr/>
        </p:nvSpPr>
        <p:spPr>
          <a:xfrm>
            <a:off x="971550" y="2139851"/>
            <a:ext cx="17659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06F"/>
                </a:solidFill>
                <a:latin typeface="IBM Plex Sans" pitchFamily="34" charset="0"/>
                <a:ea typeface="IBM Plex Sans" pitchFamily="34" charset="-122"/>
                <a:cs typeface="IBM Plex Sans" pitchFamily="34" charset="-120"/>
              </a:rPr>
              <a:t>1</a:t>
            </a:r>
            <a:endParaRPr lang="en-US" sz="2200" dirty="0"/>
          </a:p>
        </p:txBody>
      </p:sp>
      <p:sp>
        <p:nvSpPr>
          <p:cNvPr id="6" name="Text 4"/>
          <p:cNvSpPr/>
          <p:nvPr/>
        </p:nvSpPr>
        <p:spPr>
          <a:xfrm>
            <a:off x="971550" y="2607171"/>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63A"/>
                </a:solidFill>
                <a:latin typeface="IBM Plex Sans" pitchFamily="34" charset="0"/>
                <a:ea typeface="IBM Plex Sans" pitchFamily="34" charset="-122"/>
                <a:cs typeface="IBM Plex Sans" pitchFamily="34" charset="-120"/>
              </a:rPr>
              <a:t>Análisis y SRS</a:t>
            </a:r>
            <a:endParaRPr lang="en-US" sz="1400" dirty="0"/>
          </a:p>
        </p:txBody>
      </p:sp>
      <p:sp>
        <p:nvSpPr>
          <p:cNvPr id="7" name="Text 5"/>
          <p:cNvSpPr/>
          <p:nvPr/>
        </p:nvSpPr>
        <p:spPr>
          <a:xfrm>
            <a:off x="971550" y="289669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Semanas 5 a 6</a:t>
            </a:r>
            <a:endParaRPr lang="en-US" sz="1300" dirty="0"/>
          </a:p>
        </p:txBody>
      </p:sp>
      <p:sp>
        <p:nvSpPr>
          <p:cNvPr id="8" name="Text 6"/>
          <p:cNvSpPr/>
          <p:nvPr/>
        </p:nvSpPr>
        <p:spPr>
          <a:xfrm>
            <a:off x="971550" y="3203972"/>
            <a:ext cx="1765935"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Entregable: SRS</a:t>
            </a:r>
            <a:endParaRPr lang="en-US" sz="1300" dirty="0"/>
          </a:p>
        </p:txBody>
      </p:sp>
      <p:sp>
        <p:nvSpPr>
          <p:cNvPr id="9" name="Shape 7"/>
          <p:cNvSpPr/>
          <p:nvPr/>
        </p:nvSpPr>
        <p:spPr>
          <a:xfrm>
            <a:off x="2949575" y="1984276"/>
            <a:ext cx="2025650" cy="2043807"/>
          </a:xfrm>
          <a:prstGeom prst="roundRect">
            <a:avLst>
              <a:gd name="adj" fmla="val 4859"/>
            </a:avLst>
          </a:prstGeom>
          <a:solidFill>
            <a:srgbClr val="FFFFFF"/>
          </a:solidFill>
          <a:ln w="6350">
            <a:solidFill>
              <a:srgbClr val="D5DCE1"/>
            </a:solidFill>
            <a:prstDash val="solid"/>
          </a:ln>
        </p:spPr>
      </p:sp>
      <p:sp>
        <p:nvSpPr>
          <p:cNvPr id="10" name="Text 8"/>
          <p:cNvSpPr/>
          <p:nvPr/>
        </p:nvSpPr>
        <p:spPr>
          <a:xfrm>
            <a:off x="3105150" y="2139851"/>
            <a:ext cx="17659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06F"/>
                </a:solidFill>
                <a:latin typeface="IBM Plex Sans" pitchFamily="34" charset="0"/>
                <a:ea typeface="IBM Plex Sans" pitchFamily="34" charset="-122"/>
                <a:cs typeface="IBM Plex Sans" pitchFamily="34" charset="-120"/>
              </a:rPr>
              <a:t>2</a:t>
            </a:r>
            <a:endParaRPr lang="en-US" sz="2200" dirty="0"/>
          </a:p>
        </p:txBody>
      </p:sp>
      <p:sp>
        <p:nvSpPr>
          <p:cNvPr id="11" name="Text 9"/>
          <p:cNvSpPr/>
          <p:nvPr/>
        </p:nvSpPr>
        <p:spPr>
          <a:xfrm>
            <a:off x="3105150" y="2607171"/>
            <a:ext cx="1765935"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63A"/>
                </a:solidFill>
                <a:latin typeface="IBM Plex Sans" pitchFamily="34" charset="0"/>
                <a:ea typeface="IBM Plex Sans" pitchFamily="34" charset="-122"/>
                <a:cs typeface="IBM Plex Sans" pitchFamily="34" charset="-120"/>
              </a:rPr>
              <a:t>Diseño y plan de pruebas</a:t>
            </a:r>
            <a:endParaRPr lang="en-US" sz="1400" dirty="0"/>
          </a:p>
        </p:txBody>
      </p:sp>
      <p:sp>
        <p:nvSpPr>
          <p:cNvPr id="12" name="Text 10"/>
          <p:cNvSpPr/>
          <p:nvPr/>
        </p:nvSpPr>
        <p:spPr>
          <a:xfrm>
            <a:off x="3105150" y="3110012"/>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Semanas 6 a 7</a:t>
            </a:r>
            <a:endParaRPr lang="en-US" sz="1300" dirty="0"/>
          </a:p>
        </p:txBody>
      </p:sp>
      <p:sp>
        <p:nvSpPr>
          <p:cNvPr id="13" name="Text 11"/>
          <p:cNvSpPr/>
          <p:nvPr/>
        </p:nvSpPr>
        <p:spPr>
          <a:xfrm>
            <a:off x="3105150" y="3417292"/>
            <a:ext cx="17659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Entregable: Documento de Diseño</a:t>
            </a:r>
            <a:endParaRPr lang="en-US" sz="1300" dirty="0"/>
          </a:p>
        </p:txBody>
      </p:sp>
      <p:sp>
        <p:nvSpPr>
          <p:cNvPr id="14" name="Shape 12"/>
          <p:cNvSpPr/>
          <p:nvPr/>
        </p:nvSpPr>
        <p:spPr>
          <a:xfrm>
            <a:off x="5080000" y="1981101"/>
            <a:ext cx="2032000" cy="2050157"/>
          </a:xfrm>
          <a:prstGeom prst="roundRect">
            <a:avLst>
              <a:gd name="adj" fmla="val 5000"/>
            </a:avLst>
          </a:prstGeom>
          <a:solidFill>
            <a:srgbClr val="E4F1F0"/>
          </a:solidFill>
          <a:ln/>
        </p:spPr>
      </p:sp>
      <p:sp>
        <p:nvSpPr>
          <p:cNvPr id="15" name="Shape 13"/>
          <p:cNvSpPr/>
          <p:nvPr/>
        </p:nvSpPr>
        <p:spPr>
          <a:xfrm>
            <a:off x="5080000" y="1981101"/>
            <a:ext cx="2032000" cy="2050157"/>
          </a:xfrm>
          <a:custGeom>
            <a:avLst/>
            <a:gdLst/>
            <a:ahLst/>
            <a:cxnLst/>
            <a:rect l="l" t="t" r="r" b="b"/>
            <a:pathLst>
              <a:path w="2032000" h="2050157">
                <a:moveTo>
                  <a:pt x="101600" y="0"/>
                </a:moveTo>
                <a:lnTo>
                  <a:pt x="1930400" y="0"/>
                </a:lnTo>
                <a:arcTo hR="101600" wR="101600" stAng="16200000" swAng="5400000"/>
                <a:lnTo>
                  <a:pt x="2032000" y="1948557"/>
                </a:lnTo>
                <a:arcTo hR="101600" wR="101600" stAng="0" swAng="5400000"/>
                <a:lnTo>
                  <a:pt x="101600" y="2050157"/>
                </a:lnTo>
                <a:arcTo hR="101600" wR="101600" stAng="5400000" swAng="5400000"/>
                <a:lnTo>
                  <a:pt x="0" y="101600"/>
                </a:lnTo>
                <a:arcTo hR="101600" wR="101600" stAng="10800000" swAng="5400000"/>
                <a:close/>
                <a:moveTo>
                  <a:pt x="101600" y="38100"/>
                </a:moveTo>
                <a:arcTo hR="63500" wR="95250" stAng="16200000" swAng="-5400000"/>
                <a:lnTo>
                  <a:pt x="6350" y="1948557"/>
                </a:lnTo>
                <a:arcTo hR="95250" wR="95250" stAng="10800000" swAng="-5400000"/>
                <a:lnTo>
                  <a:pt x="1930400" y="2043807"/>
                </a:lnTo>
                <a:arcTo hR="95250" wR="95250" stAng="5400000" swAng="-5400000"/>
                <a:lnTo>
                  <a:pt x="2025650" y="101600"/>
                </a:lnTo>
                <a:arcTo hR="63500" wR="95250" stAng="0" swAng="-5400000"/>
                <a:close/>
              </a:path>
            </a:pathLst>
          </a:custGeom>
          <a:solidFill>
            <a:srgbClr val="17706F"/>
          </a:solidFill>
          <a:ln/>
        </p:spPr>
      </p:sp>
      <p:sp>
        <p:nvSpPr>
          <p:cNvPr id="16" name="Text 14"/>
          <p:cNvSpPr/>
          <p:nvPr/>
        </p:nvSpPr>
        <p:spPr>
          <a:xfrm>
            <a:off x="5238750" y="2171601"/>
            <a:ext cx="17659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06F"/>
                </a:solidFill>
                <a:latin typeface="IBM Plex Sans" pitchFamily="34" charset="0"/>
                <a:ea typeface="IBM Plex Sans" pitchFamily="34" charset="-122"/>
                <a:cs typeface="IBM Plex Sans" pitchFamily="34" charset="-120"/>
              </a:rPr>
              <a:t>3</a:t>
            </a:r>
            <a:endParaRPr lang="en-US" sz="2200" dirty="0"/>
          </a:p>
        </p:txBody>
      </p:sp>
      <p:sp>
        <p:nvSpPr>
          <p:cNvPr id="17" name="Text 15"/>
          <p:cNvSpPr/>
          <p:nvPr/>
        </p:nvSpPr>
        <p:spPr>
          <a:xfrm>
            <a:off x="5238750" y="2638921"/>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63A"/>
                </a:solidFill>
                <a:latin typeface="IBM Plex Sans" pitchFamily="34" charset="0"/>
                <a:ea typeface="IBM Plex Sans" pitchFamily="34" charset="-122"/>
                <a:cs typeface="IBM Plex Sans" pitchFamily="34" charset="-120"/>
              </a:rPr>
              <a:t>Construcción</a:t>
            </a:r>
            <a:endParaRPr lang="en-US" sz="1400" dirty="0"/>
          </a:p>
        </p:txBody>
      </p:sp>
      <p:sp>
        <p:nvSpPr>
          <p:cNvPr id="18" name="Text 16"/>
          <p:cNvSpPr/>
          <p:nvPr/>
        </p:nvSpPr>
        <p:spPr>
          <a:xfrm>
            <a:off x="5238750" y="292844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Semanas 8 a 14</a:t>
            </a:r>
            <a:endParaRPr lang="en-US" sz="1300" dirty="0"/>
          </a:p>
        </p:txBody>
      </p:sp>
      <p:sp>
        <p:nvSpPr>
          <p:cNvPr id="19" name="Text 17"/>
          <p:cNvSpPr/>
          <p:nvPr/>
        </p:nvSpPr>
        <p:spPr>
          <a:xfrm>
            <a:off x="5238750" y="3235722"/>
            <a:ext cx="17659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Entregable: sistema integrado</a:t>
            </a:r>
            <a:endParaRPr lang="en-US" sz="1300" dirty="0"/>
          </a:p>
        </p:txBody>
      </p:sp>
      <p:sp>
        <p:nvSpPr>
          <p:cNvPr id="20" name="Shape 18"/>
          <p:cNvSpPr/>
          <p:nvPr/>
        </p:nvSpPr>
        <p:spPr>
          <a:xfrm>
            <a:off x="7216775" y="1984276"/>
            <a:ext cx="2025650" cy="2043807"/>
          </a:xfrm>
          <a:prstGeom prst="roundRect">
            <a:avLst>
              <a:gd name="adj" fmla="val 4859"/>
            </a:avLst>
          </a:prstGeom>
          <a:solidFill>
            <a:srgbClr val="FFFFFF"/>
          </a:solidFill>
          <a:ln w="6350">
            <a:solidFill>
              <a:srgbClr val="D5DCE1"/>
            </a:solidFill>
            <a:prstDash val="solid"/>
          </a:ln>
        </p:spPr>
      </p:sp>
      <p:sp>
        <p:nvSpPr>
          <p:cNvPr id="21" name="Text 19"/>
          <p:cNvSpPr/>
          <p:nvPr/>
        </p:nvSpPr>
        <p:spPr>
          <a:xfrm>
            <a:off x="7372350" y="2139851"/>
            <a:ext cx="17659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06F"/>
                </a:solidFill>
                <a:latin typeface="IBM Plex Sans" pitchFamily="34" charset="0"/>
                <a:ea typeface="IBM Plex Sans" pitchFamily="34" charset="-122"/>
                <a:cs typeface="IBM Plex Sans" pitchFamily="34" charset="-120"/>
              </a:rPr>
              <a:t>4</a:t>
            </a:r>
            <a:endParaRPr lang="en-US" sz="2200" dirty="0"/>
          </a:p>
        </p:txBody>
      </p:sp>
      <p:sp>
        <p:nvSpPr>
          <p:cNvPr id="22" name="Text 20"/>
          <p:cNvSpPr/>
          <p:nvPr/>
        </p:nvSpPr>
        <p:spPr>
          <a:xfrm>
            <a:off x="7372350" y="2607171"/>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63A"/>
                </a:solidFill>
                <a:latin typeface="IBM Plex Sans" pitchFamily="34" charset="0"/>
                <a:ea typeface="IBM Plex Sans" pitchFamily="34" charset="-122"/>
                <a:cs typeface="IBM Plex Sans" pitchFamily="34" charset="-120"/>
              </a:rPr>
              <a:t>Pruebas</a:t>
            </a:r>
            <a:endParaRPr lang="en-US" sz="1400" dirty="0"/>
          </a:p>
        </p:txBody>
      </p:sp>
      <p:sp>
        <p:nvSpPr>
          <p:cNvPr id="23" name="Text 21"/>
          <p:cNvSpPr/>
          <p:nvPr/>
        </p:nvSpPr>
        <p:spPr>
          <a:xfrm>
            <a:off x="7372350" y="289669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Semana 15</a:t>
            </a:r>
            <a:endParaRPr lang="en-US" sz="1300" dirty="0"/>
          </a:p>
        </p:txBody>
      </p:sp>
      <p:sp>
        <p:nvSpPr>
          <p:cNvPr id="24" name="Text 22"/>
          <p:cNvSpPr/>
          <p:nvPr/>
        </p:nvSpPr>
        <p:spPr>
          <a:xfrm>
            <a:off x="7372350" y="3203972"/>
            <a:ext cx="1765935"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Entregable: Plan de Pruebas ejecutado e Informe Final</a:t>
            </a:r>
            <a:endParaRPr lang="en-US" sz="1300" dirty="0"/>
          </a:p>
        </p:txBody>
      </p:sp>
      <p:sp>
        <p:nvSpPr>
          <p:cNvPr id="25" name="Shape 23"/>
          <p:cNvSpPr/>
          <p:nvPr/>
        </p:nvSpPr>
        <p:spPr>
          <a:xfrm>
            <a:off x="9350375" y="1984276"/>
            <a:ext cx="2025650" cy="2043807"/>
          </a:xfrm>
          <a:prstGeom prst="roundRect">
            <a:avLst>
              <a:gd name="adj" fmla="val 4859"/>
            </a:avLst>
          </a:prstGeom>
          <a:solidFill>
            <a:srgbClr val="FFFFFF"/>
          </a:solidFill>
          <a:ln w="6350">
            <a:solidFill>
              <a:srgbClr val="D5DCE1"/>
            </a:solidFill>
            <a:prstDash val="solid"/>
          </a:ln>
        </p:spPr>
      </p:sp>
      <p:sp>
        <p:nvSpPr>
          <p:cNvPr id="26" name="Text 24"/>
          <p:cNvSpPr/>
          <p:nvPr/>
        </p:nvSpPr>
        <p:spPr>
          <a:xfrm>
            <a:off x="9505950" y="2139851"/>
            <a:ext cx="17659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7706F"/>
                </a:solidFill>
                <a:latin typeface="IBM Plex Sans" pitchFamily="34" charset="0"/>
                <a:ea typeface="IBM Plex Sans" pitchFamily="34" charset="-122"/>
                <a:cs typeface="IBM Plex Sans" pitchFamily="34" charset="-120"/>
              </a:rPr>
              <a:t>5</a:t>
            </a:r>
            <a:endParaRPr lang="en-US" sz="2200" dirty="0"/>
          </a:p>
        </p:txBody>
      </p:sp>
      <p:sp>
        <p:nvSpPr>
          <p:cNvPr id="27" name="Text 25"/>
          <p:cNvSpPr/>
          <p:nvPr/>
        </p:nvSpPr>
        <p:spPr>
          <a:xfrm>
            <a:off x="9505950" y="2607171"/>
            <a:ext cx="1765935"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2263A"/>
                </a:solidFill>
                <a:latin typeface="IBM Plex Sans" pitchFamily="34" charset="0"/>
                <a:ea typeface="IBM Plex Sans" pitchFamily="34" charset="-122"/>
                <a:cs typeface="IBM Plex Sans" pitchFamily="34" charset="-120"/>
              </a:rPr>
              <a:t>Cierre</a:t>
            </a:r>
            <a:endParaRPr lang="en-US" sz="1400" dirty="0"/>
          </a:p>
        </p:txBody>
      </p:sp>
      <p:sp>
        <p:nvSpPr>
          <p:cNvPr id="28" name="Text 26"/>
          <p:cNvSpPr/>
          <p:nvPr/>
        </p:nvSpPr>
        <p:spPr>
          <a:xfrm>
            <a:off x="9505950" y="2896691"/>
            <a:ext cx="176593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Semana 16</a:t>
            </a:r>
            <a:endParaRPr lang="en-US" sz="1300" dirty="0"/>
          </a:p>
        </p:txBody>
      </p:sp>
      <p:sp>
        <p:nvSpPr>
          <p:cNvPr id="29" name="Text 27"/>
          <p:cNvSpPr/>
          <p:nvPr/>
        </p:nvSpPr>
        <p:spPr>
          <a:xfrm>
            <a:off x="9505950" y="3203972"/>
            <a:ext cx="1765935"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Entregable: manual técnico</a:t>
            </a:r>
            <a:endParaRPr lang="en-US" sz="1300" dirty="0"/>
          </a:p>
        </p:txBody>
      </p:sp>
      <p:sp>
        <p:nvSpPr>
          <p:cNvPr id="30" name="Text 28"/>
          <p:cNvSpPr/>
          <p:nvPr/>
        </p:nvSpPr>
        <p:spPr>
          <a:xfrm>
            <a:off x="812800" y="4285258"/>
            <a:ext cx="108833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Cada etapa termina en un entregable aprobado antes de iniciar la siguiente; los cambios posteriores pasan por control de cambios. Cuatro evaluaciones: Fase 1 (20 %), Informe de Avance (20 %), Informe Final (30 %) y presentación ante comisión (30 %, semanas 17 y 18).</a:t>
            </a:r>
            <a:endParaRPr lang="en-US" sz="1400" dirty="0"/>
          </a:p>
        </p:txBody>
      </p:sp>
      <p:sp>
        <p:nvSpPr>
          <p:cNvPr id="31" name="Text 29"/>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8 / 21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CRONOGRAMA Y CUMPLIMIENTO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Etapas 1 y 2 con borrador; construcción en curso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50567"/>
        </p:xfrm>
        <a:graphic>
          <a:graphicData uri="http://schemas.openxmlformats.org/drawingml/2006/table">
            <a:tbl>
              <a:tblPr/>
              <a:tblGrid>
                <a:gridCol w="4854702"/>
                <a:gridCol w="1688592"/>
                <a:gridCol w="4010406"/>
              </a:tblGrid>
              <a:tr h="634802">
                <a:tc>
                  <a:txBody>
                    <a:bodyPr/>
                    <a:lstStyle/>
                    <a:p>
                      <a:pPr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Etapa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Semanas ajustadas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c>
                  <a:txBody>
                    <a:bodyPr/>
                    <a:lstStyle/>
                    <a:p>
                      <a:pPr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Estado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7B4"/>
                      </a:solidFill>
                      <a:prstDash val="solid"/>
                      <a:round/>
                      <a:headEnd type="none" w="med" len="med"/>
                      <a:tailEnd type="none" w="med" len="med"/>
                    </a:lnL>
                    <a:lnR w="12700" cap="flat" cmpd="sng" algn="ctr">
                      <a:solidFill>
                        <a:srgbClr val="B6B7B4"/>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B6B7B4"/>
                      </a:solidFill>
                      <a:prstDash val="solid"/>
                      <a:round/>
                      <a:headEnd type="none" w="med" len="med"/>
                      <a:tailEnd type="none" w="med" len="med"/>
                    </a:lnB>
                    <a:solidFill>
                      <a:srgbClr val="E4E5E2"/>
                    </a:solidFill>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 · Análisis y SRS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hasta 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Borrador v0.2 listo para la entrega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B6B7B4"/>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2 · Diseño y plan de pruebas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hasta 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Borrador v0.2 listo para la entrega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3a · Pipeline y banco de fagos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hasta 13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En curso: corte funcional listo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3b · Modelo de predicción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13–14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No iniciado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3c · Plataforma web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13–15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En curso: API y web mínima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85961">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3d · App móvil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No iniciado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bl>
          </a:graphicData>
        </a:graphic>
      </p:graphicFrame>
      <p:sp>
        <p:nvSpPr>
          <p:cNvPr id="5" name="Text 2"/>
          <p:cNvSpPr/>
          <p:nvPr/>
        </p:nvSpPr>
        <p:spPr>
          <a:xfrm>
            <a:off x="812800" y="5198368"/>
            <a:ext cx="11379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Entrega 2: 30 de octubre, plazo indicado por el docente el 29-10. Informe Final: semana 15 (16–21 de noviembre).</a:t>
            </a:r>
            <a:endParaRPr lang="en-US" sz="1600" dirty="0"/>
          </a:p>
        </p:txBody>
      </p:sp>
      <p:sp>
        <p:nvSpPr>
          <p:cNvPr id="6" name="Text 3"/>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9 / 21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TECNOLOGÍAS UTILIZADAS</a:t>
            </a:r>
            <a:endParaRPr lang="en-US" sz="1200" dirty="0"/>
          </a:p>
        </p:txBody>
      </p:sp>
      <p:sp>
        <p:nvSpPr>
          <p:cNvPr id="3" name="Text 1"/>
          <p:cNvSpPr/>
          <p:nvPr>
            <p:ph type="title"/>
          </p:nvPr>
        </p:nvSpPr>
        <p:spPr>
          <a:xfrm>
            <a:off x="812800" y="1280120"/>
            <a:ext cx="11379200"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6F7F4"/>
                </a:solidFill>
                <a:latin typeface="EB Garamond" pitchFamily="18" charset="0"/>
                <a:ea typeface="EB Garamond" pitchFamily="18" charset="-122"/>
                <a:cs typeface="EB Garamond" pitchFamily="18" charset="-120"/>
              </a:rPr>
              <a:t>Pila de código abierto: lo que corre hoy y lo que solo está diseñado</a:t>
            </a:r>
            <a:endParaRPr lang="en-US" sz="3200" dirty="0"/>
          </a:p>
        </p:txBody>
      </p:sp>
      <p:sp>
        <p:nvSpPr>
          <p:cNvPr id="4" name="Shape 2"/>
          <p:cNvSpPr/>
          <p:nvPr/>
        </p:nvSpPr>
        <p:spPr>
          <a:xfrm>
            <a:off x="819150" y="1987451"/>
            <a:ext cx="3412034" cy="2023963"/>
          </a:xfrm>
          <a:prstGeom prst="roundRect">
            <a:avLst>
              <a:gd name="adj" fmla="val 4706"/>
            </a:avLst>
          </a:prstGeom>
          <a:solidFill>
            <a:srgbClr val="1B3550"/>
          </a:solidFill>
          <a:ln w="12700">
            <a:solidFill>
              <a:srgbClr val="5CC8C4"/>
            </a:solidFill>
            <a:prstDash val="solid"/>
          </a:ln>
        </p:spPr>
      </p:sp>
      <p:sp>
        <p:nvSpPr>
          <p:cNvPr id="5" name="Text 3"/>
          <p:cNvSpPr/>
          <p:nvPr/>
        </p:nvSpPr>
        <p:spPr>
          <a:xfrm>
            <a:off x="1028700" y="2197001"/>
            <a:ext cx="30827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CC8C4"/>
                </a:solidFill>
                <a:latin typeface="IBM Plex Sans" pitchFamily="34" charset="0"/>
                <a:ea typeface="IBM Plex Sans" pitchFamily="34" charset="-122"/>
                <a:cs typeface="IBM Plex Sans" pitchFamily="34" charset="-120"/>
              </a:rPr>
              <a:t>En uso hoy</a:t>
            </a:r>
            <a:endParaRPr lang="en-US" sz="1700" dirty="0"/>
          </a:p>
        </p:txBody>
      </p:sp>
      <p:sp>
        <p:nvSpPr>
          <p:cNvPr id="6" name="Text 4"/>
          <p:cNvSpPr/>
          <p:nvPr/>
        </p:nvSpPr>
        <p:spPr>
          <a:xfrm>
            <a:off x="1106932" y="2557661"/>
            <a:ext cx="2996870" cy="1269603"/>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Python 3.12 y FastAPI</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SQLAlchemy 2 y Alembic</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PostgreSQL 16 y MongoDB 7</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Docker Compose</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pytest y httpx</a:t>
            </a:r>
            <a:endParaRPr lang="en-US" sz="1400" dirty="0"/>
          </a:p>
        </p:txBody>
      </p:sp>
      <p:sp>
        <p:nvSpPr>
          <p:cNvPr id="7" name="Shape 5"/>
          <p:cNvSpPr/>
          <p:nvPr/>
        </p:nvSpPr>
        <p:spPr>
          <a:xfrm>
            <a:off x="4393109" y="1984276"/>
            <a:ext cx="3405783" cy="2030313"/>
          </a:xfrm>
          <a:prstGeom prst="roundRect">
            <a:avLst>
              <a:gd name="adj" fmla="val 4848"/>
            </a:avLst>
          </a:prstGeom>
          <a:solidFill>
            <a:srgbClr val="1B3550"/>
          </a:solidFill>
          <a:ln w="6350">
            <a:solidFill>
              <a:srgbClr val="2E4A66"/>
            </a:solidFill>
            <a:prstDash val="solid"/>
          </a:ln>
        </p:spPr>
      </p:sp>
      <p:sp>
        <p:nvSpPr>
          <p:cNvPr id="8" name="Text 6"/>
          <p:cNvSpPr/>
          <p:nvPr/>
        </p:nvSpPr>
        <p:spPr>
          <a:xfrm>
            <a:off x="4599484" y="2190651"/>
            <a:ext cx="3082824"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5CC8C4"/>
                </a:solidFill>
                <a:latin typeface="IBM Plex Sans" pitchFamily="34" charset="0"/>
                <a:ea typeface="IBM Plex Sans" pitchFamily="34" charset="-122"/>
                <a:cs typeface="IBM Plex Sans" pitchFamily="34" charset="-120"/>
              </a:rPr>
              <a:t>Herramientas externas</a:t>
            </a:r>
            <a:endParaRPr lang="en-US" sz="1700" dirty="0"/>
          </a:p>
        </p:txBody>
      </p:sp>
      <p:sp>
        <p:nvSpPr>
          <p:cNvPr id="9" name="Text 7"/>
          <p:cNvSpPr/>
          <p:nvPr/>
        </p:nvSpPr>
        <p:spPr>
          <a:xfrm>
            <a:off x="4677716" y="2551311"/>
            <a:ext cx="2996972" cy="771922"/>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Mash: especie</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Kaptive 3.3.2: locus K</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Prodigal 2.6.3: genes y proteínas</a:t>
            </a:r>
            <a:endParaRPr lang="en-US" sz="1400" dirty="0"/>
          </a:p>
        </p:txBody>
      </p:sp>
      <p:sp>
        <p:nvSpPr>
          <p:cNvPr id="10" name="Shape 8"/>
          <p:cNvSpPr/>
          <p:nvPr/>
        </p:nvSpPr>
        <p:spPr>
          <a:xfrm>
            <a:off x="7960816" y="1987451"/>
            <a:ext cx="3412034" cy="2023963"/>
          </a:xfrm>
          <a:prstGeom prst="roundRect">
            <a:avLst>
              <a:gd name="adj" fmla="val 4706"/>
            </a:avLst>
          </a:prstGeom>
          <a:noFill/>
          <a:ln w="12700">
            <a:solidFill>
              <a:srgbClr val="9FB1C1"/>
            </a:solidFill>
            <a:prstDash val="dash"/>
          </a:ln>
        </p:spPr>
      </p:sp>
      <p:sp>
        <p:nvSpPr>
          <p:cNvPr id="11" name="Text 9"/>
          <p:cNvSpPr/>
          <p:nvPr/>
        </p:nvSpPr>
        <p:spPr>
          <a:xfrm>
            <a:off x="8170366" y="2197001"/>
            <a:ext cx="3082722"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D3DCE4"/>
                </a:solidFill>
                <a:latin typeface="IBM Plex Sans" pitchFamily="34" charset="0"/>
                <a:ea typeface="IBM Plex Sans" pitchFamily="34" charset="-122"/>
                <a:cs typeface="IBM Plex Sans" pitchFamily="34" charset="-120"/>
              </a:rPr>
              <a:t>Solo en el diseño</a:t>
            </a:r>
            <a:endParaRPr lang="en-US" sz="1700" dirty="0"/>
          </a:p>
        </p:txBody>
      </p:sp>
      <p:sp>
        <p:nvSpPr>
          <p:cNvPr id="12" name="Text 10"/>
          <p:cNvSpPr/>
          <p:nvPr/>
        </p:nvSpPr>
        <p:spPr>
          <a:xfrm>
            <a:off x="8248598" y="2557661"/>
            <a:ext cx="2996870" cy="1020763"/>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Next.js y React Native</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JWT, RBAC y Argon2id</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ESM-2, XGBoost y SHAP</a:t>
            </a:r>
            <a:endParaRPr lang="en-US" sz="1400" dirty="0"/>
          </a:p>
          <a:p>
            <a:pPr algn="l" marL="175768" indent="-175768">
              <a:lnSpc>
                <a:spcPts val="1960"/>
              </a:lnSpc>
              <a:buSzPct val="100000"/>
              <a:buChar char="•"/>
            </a:pPr>
            <a:r>
              <a:rPr lang="en-US" sz="1400" dirty="0">
                <a:solidFill>
                  <a:srgbClr val="F6F7F4"/>
                </a:solidFill>
                <a:latin typeface="IBM Plex Sans" pitchFamily="34" charset="0"/>
                <a:ea typeface="IBM Plex Sans" pitchFamily="34" charset="-122"/>
                <a:cs typeface="IBM Plex Sans" pitchFamily="34" charset="-120"/>
              </a:rPr>
              <a:t>Playwright, Locust y OWASP ZAP</a:t>
            </a:r>
            <a:endParaRPr lang="en-US" sz="1400" dirty="0"/>
          </a:p>
        </p:txBody>
      </p:sp>
      <p:sp>
        <p:nvSpPr>
          <p:cNvPr id="13" name="Text 11"/>
          <p:cNvSpPr/>
          <p:nvPr/>
        </p:nvSpPr>
        <p:spPr>
          <a:xfrm>
            <a:off x="812800" y="427176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3DCE4"/>
                </a:solidFill>
                <a:latin typeface="IBM Plex Sans" pitchFamily="34" charset="0"/>
                <a:ea typeface="IBM Plex Sans" pitchFamily="34" charset="-122"/>
                <a:cs typeface="IBM Plex Sans" pitchFamily="34" charset="-120"/>
              </a:rPr>
              <a:t>Las herramientas bioinformáticas son procesos externos: el worker las invoca por línea de comandos y traduce sus fallos a un error propio.</a:t>
            </a:r>
            <a:endParaRPr lang="en-US" sz="1500" dirty="0"/>
          </a:p>
        </p:txBody>
      </p:sp>
      <p:sp>
        <p:nvSpPr>
          <p:cNvPr id="14" name="Text 12"/>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SIRFA · Informe de Avance</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10 / 21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ARQUITECTURA DEL SOFTWARE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Monolito modular con workers y dos bases de datos</a:t>
            </a:r>
            <a:endParaRPr lang="en-US" sz="3200" dirty="0"/>
          </a:p>
        </p:txBody>
      </p:sp>
      <p:sp>
        <p:nvSpPr>
          <p:cNvPr id="4" name="Shape 2"/>
          <p:cNvSpPr/>
          <p:nvPr/>
        </p:nvSpPr>
        <p:spPr>
          <a:xfrm>
            <a:off x="815975" y="1984276"/>
            <a:ext cx="3376017" cy="2599134"/>
          </a:xfrm>
          <a:prstGeom prst="roundRect">
            <a:avLst>
              <a:gd name="adj" fmla="val 3787"/>
            </a:avLst>
          </a:prstGeom>
          <a:solidFill>
            <a:srgbClr val="FFFFFF"/>
          </a:solidFill>
          <a:ln w="6350">
            <a:solidFill>
              <a:srgbClr val="D5DCE1"/>
            </a:solidFill>
            <a:prstDash val="solid"/>
          </a:ln>
        </p:spPr>
      </p:sp>
      <p:sp>
        <p:nvSpPr>
          <p:cNvPr id="5" name="Text 3"/>
          <p:cNvSpPr/>
          <p:nvPr/>
        </p:nvSpPr>
        <p:spPr>
          <a:xfrm>
            <a:off x="1073150" y="2241451"/>
            <a:ext cx="294751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06F"/>
                </a:solidFill>
                <a:latin typeface="IBM Plex Sans" pitchFamily="34" charset="0"/>
                <a:ea typeface="IBM Plex Sans" pitchFamily="34" charset="-122"/>
                <a:cs typeface="IBM Plex Sans" pitchFamily="34" charset="-120"/>
              </a:rPr>
              <a:t>Clientes</a:t>
            </a:r>
            <a:endParaRPr lang="en-US" sz="1800" dirty="0"/>
          </a:p>
        </p:txBody>
      </p:sp>
      <p:sp>
        <p:nvSpPr>
          <p:cNvPr id="6" name="Text 4"/>
          <p:cNvSpPr/>
          <p:nvPr/>
        </p:nvSpPr>
        <p:spPr>
          <a:xfrm>
            <a:off x="1073150" y="2617291"/>
            <a:ext cx="294751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web</a:t>
            </a:r>
            <a:r>
              <a:rPr lang="en-US" sz="1400" dirty="0">
                <a:solidFill>
                  <a:srgbClr val="12263A"/>
                </a:solidFill>
                <a:latin typeface="IBM Plex Sans" pitchFamily="34" charset="0"/>
                <a:ea typeface="IBM Plex Sans" pitchFamily="34" charset="-122"/>
                <a:cs typeface="IBM Plex Sans" pitchFamily="34" charset="-120"/>
              </a:rPr>
              <a:t> en Next.js y </a:t>
            </a:r>
            <a:r>
              <a:rPr lang="en-US" sz="1400" b="1" dirty="0">
                <a:solidFill>
                  <a:srgbClr val="12263A"/>
                </a:solidFill>
                <a:latin typeface="IBM Plex Sans" pitchFamily="34" charset="0"/>
                <a:ea typeface="IBM Plex Sans" pitchFamily="34" charset="-122"/>
                <a:cs typeface="IBM Plex Sans" pitchFamily="34" charset="-120"/>
              </a:rPr>
              <a:t>móvil</a:t>
            </a:r>
            <a:r>
              <a:rPr lang="en-US" sz="1400" dirty="0">
                <a:solidFill>
                  <a:srgbClr val="12263A"/>
                </a:solidFill>
                <a:latin typeface="IBM Plex Sans" pitchFamily="34" charset="0"/>
                <a:ea typeface="IBM Plex Sans" pitchFamily="34" charset="-122"/>
                <a:cs typeface="IBM Plex Sans" pitchFamily="34" charset="-120"/>
              </a:rPr>
              <a:t> en React Native.</a:t>
            </a:r>
            <a:endParaRPr lang="en-US" sz="1400" dirty="0"/>
          </a:p>
        </p:txBody>
      </p:sp>
      <p:sp>
        <p:nvSpPr>
          <p:cNvPr id="7" name="Text 5"/>
          <p:cNvSpPr/>
          <p:nvPr/>
        </p:nvSpPr>
        <p:spPr>
          <a:xfrm>
            <a:off x="1073150" y="3216573"/>
            <a:ext cx="294751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Solo hablan con la API, por HTTPS y con JWT.</a:t>
            </a:r>
            <a:endParaRPr lang="en-US" sz="1400" dirty="0"/>
          </a:p>
        </p:txBody>
      </p:sp>
      <p:sp>
        <p:nvSpPr>
          <p:cNvPr id="8" name="Shape 6"/>
          <p:cNvSpPr/>
          <p:nvPr/>
        </p:nvSpPr>
        <p:spPr>
          <a:xfrm>
            <a:off x="4404717" y="1987451"/>
            <a:ext cx="3382466" cy="2592784"/>
          </a:xfrm>
          <a:prstGeom prst="roundRect">
            <a:avLst>
              <a:gd name="adj" fmla="val 3674"/>
            </a:avLst>
          </a:prstGeom>
          <a:solidFill>
            <a:srgbClr val="E4F1F0"/>
          </a:solidFill>
          <a:ln w="12700">
            <a:solidFill>
              <a:srgbClr val="17706F"/>
            </a:solidFill>
            <a:prstDash val="solid"/>
          </a:ln>
        </p:spPr>
      </p:sp>
      <p:sp>
        <p:nvSpPr>
          <p:cNvPr id="9" name="Text 7"/>
          <p:cNvSpPr/>
          <p:nvPr/>
        </p:nvSpPr>
        <p:spPr>
          <a:xfrm>
            <a:off x="4665067" y="2247801"/>
            <a:ext cx="294761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5251"/>
                </a:solidFill>
                <a:latin typeface="IBM Plex Sans" pitchFamily="34" charset="0"/>
                <a:ea typeface="IBM Plex Sans" pitchFamily="34" charset="-122"/>
                <a:cs typeface="IBM Plex Sans" pitchFamily="34" charset="-120"/>
              </a:rPr>
              <a:t>Servicios</a:t>
            </a:r>
            <a:endParaRPr lang="en-US" sz="1800" dirty="0"/>
          </a:p>
        </p:txBody>
      </p:sp>
      <p:sp>
        <p:nvSpPr>
          <p:cNvPr id="10" name="Text 8"/>
          <p:cNvSpPr/>
          <p:nvPr/>
        </p:nvSpPr>
        <p:spPr>
          <a:xfrm>
            <a:off x="4665067" y="2623641"/>
            <a:ext cx="29476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api</a:t>
            </a:r>
            <a:r>
              <a:rPr lang="en-US" sz="1400" dirty="0">
                <a:solidFill>
                  <a:srgbClr val="12263A"/>
                </a:solidFill>
                <a:latin typeface="IBM Plex Sans" pitchFamily="34" charset="0"/>
                <a:ea typeface="IBM Plex Sans" pitchFamily="34" charset="-122"/>
                <a:cs typeface="IBM Plex Sans" pitchFamily="34" charset="-120"/>
              </a:rPr>
              <a:t> en FastAPI: autoriza, audita y encola.</a:t>
            </a:r>
            <a:endParaRPr lang="en-US" sz="1400" dirty="0"/>
          </a:p>
        </p:txBody>
      </p:sp>
      <p:sp>
        <p:nvSpPr>
          <p:cNvPr id="11" name="Text 9"/>
          <p:cNvSpPr/>
          <p:nvPr/>
        </p:nvSpPr>
        <p:spPr>
          <a:xfrm>
            <a:off x="4665067" y="3222923"/>
            <a:ext cx="29476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worker-pipeline</a:t>
            </a:r>
            <a:r>
              <a:rPr lang="en-US" sz="1400" dirty="0">
                <a:solidFill>
                  <a:srgbClr val="12263A"/>
                </a:solidFill>
                <a:latin typeface="IBM Plex Sans" pitchFamily="34" charset="0"/>
                <a:ea typeface="IBM Plex Sans" pitchFamily="34" charset="-122"/>
                <a:cs typeface="IBM Plex Sans" pitchFamily="34" charset="-120"/>
              </a:rPr>
              <a:t>: Prodigal y Kaptive.</a:t>
            </a:r>
            <a:endParaRPr lang="en-US" sz="1400" dirty="0"/>
          </a:p>
        </p:txBody>
      </p:sp>
      <p:sp>
        <p:nvSpPr>
          <p:cNvPr id="12" name="Text 10"/>
          <p:cNvSpPr/>
          <p:nvPr/>
        </p:nvSpPr>
        <p:spPr>
          <a:xfrm>
            <a:off x="4665067" y="3822204"/>
            <a:ext cx="29476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worker-prediction</a:t>
            </a:r>
            <a:r>
              <a:rPr lang="en-US" sz="1400" dirty="0">
                <a:solidFill>
                  <a:srgbClr val="12263A"/>
                </a:solidFill>
                <a:latin typeface="IBM Plex Sans" pitchFamily="34" charset="0"/>
                <a:ea typeface="IBM Plex Sans" pitchFamily="34" charset="-122"/>
                <a:cs typeface="IBM Plex Sans" pitchFamily="34" charset="-120"/>
              </a:rPr>
              <a:t>: ESM-2, XGBoost y SHAP.</a:t>
            </a:r>
            <a:endParaRPr lang="en-US" sz="1400" dirty="0"/>
          </a:p>
        </p:txBody>
      </p:sp>
      <p:sp>
        <p:nvSpPr>
          <p:cNvPr id="13" name="Shape 11"/>
          <p:cNvSpPr/>
          <p:nvPr/>
        </p:nvSpPr>
        <p:spPr>
          <a:xfrm>
            <a:off x="7999909" y="1984276"/>
            <a:ext cx="3376116" cy="2599134"/>
          </a:xfrm>
          <a:prstGeom prst="roundRect">
            <a:avLst>
              <a:gd name="adj" fmla="val 3787"/>
            </a:avLst>
          </a:prstGeom>
          <a:solidFill>
            <a:srgbClr val="FFFFFF"/>
          </a:solidFill>
          <a:ln w="6350">
            <a:solidFill>
              <a:srgbClr val="D5DCE1"/>
            </a:solidFill>
            <a:prstDash val="solid"/>
          </a:ln>
        </p:spPr>
      </p:sp>
      <p:sp>
        <p:nvSpPr>
          <p:cNvPr id="14" name="Text 12"/>
          <p:cNvSpPr/>
          <p:nvPr/>
        </p:nvSpPr>
        <p:spPr>
          <a:xfrm>
            <a:off x="8257084" y="2241451"/>
            <a:ext cx="2947619"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06F"/>
                </a:solidFill>
                <a:latin typeface="IBM Plex Sans" pitchFamily="34" charset="0"/>
                <a:ea typeface="IBM Plex Sans" pitchFamily="34" charset="-122"/>
                <a:cs typeface="IBM Plex Sans" pitchFamily="34" charset="-120"/>
              </a:rPr>
              <a:t>Datos</a:t>
            </a:r>
            <a:endParaRPr lang="en-US" sz="1800" dirty="0"/>
          </a:p>
        </p:txBody>
      </p:sp>
      <p:sp>
        <p:nvSpPr>
          <p:cNvPr id="15" name="Text 13"/>
          <p:cNvSpPr/>
          <p:nvPr/>
        </p:nvSpPr>
        <p:spPr>
          <a:xfrm>
            <a:off x="8257084" y="2617291"/>
            <a:ext cx="29476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PostgreSQL</a:t>
            </a:r>
            <a:r>
              <a:rPr lang="en-US" sz="1400" dirty="0">
                <a:solidFill>
                  <a:srgbClr val="12263A"/>
                </a:solidFill>
                <a:latin typeface="IBM Plex Sans" pitchFamily="34" charset="0"/>
                <a:ea typeface="IBM Plex Sans" pitchFamily="34" charset="-122"/>
                <a:cs typeface="IBM Plex Sans" pitchFamily="34" charset="-120"/>
              </a:rPr>
              <a:t>: dominio, cola de trabajos y auditoría.</a:t>
            </a:r>
            <a:endParaRPr lang="en-US" sz="1400" dirty="0"/>
          </a:p>
        </p:txBody>
      </p:sp>
      <p:sp>
        <p:nvSpPr>
          <p:cNvPr id="16" name="Text 14"/>
          <p:cNvSpPr/>
          <p:nvPr/>
        </p:nvSpPr>
        <p:spPr>
          <a:xfrm>
            <a:off x="8257084" y="3216573"/>
            <a:ext cx="2947619"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MongoDB</a:t>
            </a:r>
            <a:r>
              <a:rPr lang="en-US" sz="1400" dirty="0">
                <a:solidFill>
                  <a:srgbClr val="12263A"/>
                </a:solidFill>
                <a:latin typeface="IBM Plex Sans" pitchFamily="34" charset="0"/>
                <a:ea typeface="IBM Plex Sans" pitchFamily="34" charset="-122"/>
                <a:cs typeface="IBM Plex Sans" pitchFamily="34" charset="-120"/>
              </a:rPr>
              <a:t>: salidas de análisis y embeddings.</a:t>
            </a:r>
            <a:endParaRPr lang="en-US" sz="1400" dirty="0"/>
          </a:p>
        </p:txBody>
      </p:sp>
      <p:sp>
        <p:nvSpPr>
          <p:cNvPr id="17" name="Text 15"/>
          <p:cNvSpPr/>
          <p:nvPr/>
        </p:nvSpPr>
        <p:spPr>
          <a:xfrm>
            <a:off x="812800" y="4840585"/>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2263A"/>
                </a:solidFill>
                <a:latin typeface="IBM Plex Sans" pitchFamily="34" charset="0"/>
                <a:ea typeface="IBM Plex Sans" pitchFamily="34" charset="-122"/>
                <a:cs typeface="IBM Plex Sans" pitchFamily="34" charset="-120"/>
              </a:rPr>
              <a:t>Seis contenedores con docker compose en el diseño; hoy corren cuatro (PostgreSQL, MongoDB, API y worker-pipeline) y la web mínima la sirve la propia API. La cola vive en PostgreSQL, así que no hace falta Redis.</a:t>
            </a:r>
            <a:endParaRPr lang="en-US" sz="1600" dirty="0"/>
          </a:p>
        </p:txBody>
      </p:sp>
      <p:sp>
        <p:nvSpPr>
          <p:cNvPr id="18" name="Text 16"/>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11 / 21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FLUJO DE UNA SOLICITUD · QUÉ PASA AL SUBIR UN GENOMA</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6F7F4"/>
                </a:solidFill>
                <a:latin typeface="EB Garamond" pitchFamily="18" charset="0"/>
                <a:ea typeface="EB Garamond" pitchFamily="18" charset="-122"/>
                <a:cs typeface="EB Garamond" pitchFamily="18" charset="-120"/>
              </a:rPr>
              <a:t>La API responde al instante; el worker hace el resto</a:t>
            </a:r>
            <a:endParaRPr lang="en-US" sz="3200" dirty="0"/>
          </a:p>
        </p:txBody>
      </p:sp>
      <p:sp>
        <p:nvSpPr>
          <p:cNvPr id="4" name="Text 2"/>
          <p:cNvSpPr/>
          <p:nvPr/>
        </p:nvSpPr>
        <p:spPr>
          <a:xfrm>
            <a:off x="812800" y="187950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B1C1"/>
                </a:solidFill>
                <a:latin typeface="IBM Plex Sans" pitchFamily="34" charset="0"/>
                <a:ea typeface="IBM Plex Sans" pitchFamily="34" charset="-122"/>
                <a:cs typeface="IBM Plex Sans" pitchFamily="34" charset="-120"/>
              </a:rPr>
              <a:t>AL ENVIAR</a:t>
            </a:r>
            <a:endParaRPr lang="en-US" sz="1200" dirty="0"/>
          </a:p>
        </p:txBody>
      </p:sp>
      <p:sp>
        <p:nvSpPr>
          <p:cNvPr id="5" name="Shape 3"/>
          <p:cNvSpPr/>
          <p:nvPr/>
        </p:nvSpPr>
        <p:spPr>
          <a:xfrm>
            <a:off x="815975" y="2146796"/>
            <a:ext cx="2787650" cy="925711"/>
          </a:xfrm>
          <a:prstGeom prst="roundRect">
            <a:avLst>
              <a:gd name="adj" fmla="val 10632"/>
            </a:avLst>
          </a:prstGeom>
          <a:solidFill>
            <a:srgbClr val="1B3550"/>
          </a:solidFill>
          <a:ln w="6350">
            <a:solidFill>
              <a:srgbClr val="2E4A66"/>
            </a:solidFill>
            <a:prstDash val="solid"/>
          </a:ln>
        </p:spPr>
      </p:sp>
      <p:sp>
        <p:nvSpPr>
          <p:cNvPr id="6" name="Text 4"/>
          <p:cNvSpPr/>
          <p:nvPr/>
        </p:nvSpPr>
        <p:spPr>
          <a:xfrm>
            <a:off x="971550" y="2276971"/>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1</a:t>
            </a:r>
            <a:endParaRPr lang="en-US" sz="1700" dirty="0"/>
          </a:p>
        </p:txBody>
      </p:sp>
      <p:sp>
        <p:nvSpPr>
          <p:cNvPr id="7" name="Text 5"/>
          <p:cNvSpPr/>
          <p:nvPr/>
        </p:nvSpPr>
        <p:spPr>
          <a:xfrm>
            <a:off x="1403350" y="2276971"/>
            <a:ext cx="21060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Navegador</a:t>
            </a:r>
            <a:endParaRPr lang="en-US" sz="1500" dirty="0"/>
          </a:p>
        </p:txBody>
      </p:sp>
      <p:sp>
        <p:nvSpPr>
          <p:cNvPr id="8" name="Text 6"/>
          <p:cNvSpPr/>
          <p:nvPr/>
        </p:nvSpPr>
        <p:spPr>
          <a:xfrm>
            <a:off x="1403350" y="2530971"/>
            <a:ext cx="210604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CE4"/>
                </a:solidFill>
                <a:latin typeface="IBM Plex Sans" pitchFamily="34" charset="0"/>
                <a:ea typeface="IBM Plex Sans" pitchFamily="34" charset="-122"/>
                <a:cs typeface="IBM Plex Sans" pitchFamily="34" charset="-120"/>
              </a:rPr>
              <a:t>Envía el archivo FASTA y los datos del aislado</a:t>
            </a:r>
            <a:endParaRPr lang="en-US" sz="1200" dirty="0"/>
          </a:p>
        </p:txBody>
      </p:sp>
      <p:sp>
        <p:nvSpPr>
          <p:cNvPr id="9" name="Text 7"/>
          <p:cNvSpPr/>
          <p:nvPr/>
        </p:nvSpPr>
        <p:spPr>
          <a:xfrm>
            <a:off x="770890" y="3126482"/>
            <a:ext cx="287782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5CC8C4"/>
                </a:solidFill>
                <a:latin typeface="IBM Plex Sans" pitchFamily="34" charset="0"/>
                <a:ea typeface="IBM Plex Sans" pitchFamily="34" charset="-122"/>
                <a:cs typeface="IBM Plex Sans" pitchFamily="34" charset="-120"/>
              </a:rPr>
              <a:t>↓</a:t>
            </a:r>
            <a:endParaRPr lang="en-US" sz="1400" dirty="0"/>
          </a:p>
        </p:txBody>
      </p:sp>
      <p:sp>
        <p:nvSpPr>
          <p:cNvPr id="10" name="Shape 8"/>
          <p:cNvSpPr/>
          <p:nvPr/>
        </p:nvSpPr>
        <p:spPr>
          <a:xfrm>
            <a:off x="815975" y="3358257"/>
            <a:ext cx="2787650" cy="925711"/>
          </a:xfrm>
          <a:prstGeom prst="roundRect">
            <a:avLst>
              <a:gd name="adj" fmla="val 10632"/>
            </a:avLst>
          </a:prstGeom>
          <a:solidFill>
            <a:srgbClr val="1B3550"/>
          </a:solidFill>
          <a:ln w="6350">
            <a:solidFill>
              <a:srgbClr val="2E4A66"/>
            </a:solidFill>
            <a:prstDash val="solid"/>
          </a:ln>
        </p:spPr>
      </p:sp>
      <p:sp>
        <p:nvSpPr>
          <p:cNvPr id="11" name="Text 9"/>
          <p:cNvSpPr/>
          <p:nvPr/>
        </p:nvSpPr>
        <p:spPr>
          <a:xfrm>
            <a:off x="971550" y="3488432"/>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2</a:t>
            </a:r>
            <a:endParaRPr lang="en-US" sz="1700" dirty="0"/>
          </a:p>
        </p:txBody>
      </p:sp>
      <p:sp>
        <p:nvSpPr>
          <p:cNvPr id="12" name="Text 10"/>
          <p:cNvSpPr/>
          <p:nvPr/>
        </p:nvSpPr>
        <p:spPr>
          <a:xfrm>
            <a:off x="1403350" y="3488432"/>
            <a:ext cx="21060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API</a:t>
            </a:r>
            <a:endParaRPr lang="en-US" sz="1500" dirty="0"/>
          </a:p>
        </p:txBody>
      </p:sp>
      <p:sp>
        <p:nvSpPr>
          <p:cNvPr id="13" name="Text 11"/>
          <p:cNvSpPr/>
          <p:nvPr/>
        </p:nvSpPr>
        <p:spPr>
          <a:xfrm>
            <a:off x="1403350" y="3742432"/>
            <a:ext cx="2106041"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CE4"/>
                </a:solidFill>
                <a:latin typeface="IBM Plex Sans" pitchFamily="34" charset="0"/>
                <a:ea typeface="IBM Plex Sans" pitchFamily="34" charset="-122"/>
                <a:cs typeface="IBM Plex Sans" pitchFamily="34" charset="-120"/>
              </a:rPr>
              <a:t>Valida los campos y que el FASTA sea válido</a:t>
            </a:r>
            <a:endParaRPr lang="en-US" sz="1200" dirty="0"/>
          </a:p>
        </p:txBody>
      </p:sp>
      <p:sp>
        <p:nvSpPr>
          <p:cNvPr id="14" name="Text 12"/>
          <p:cNvSpPr/>
          <p:nvPr/>
        </p:nvSpPr>
        <p:spPr>
          <a:xfrm>
            <a:off x="770890" y="4337943"/>
            <a:ext cx="2877820" cy="203200"/>
          </a:xfrm>
          <a:prstGeom prst="rect">
            <a:avLst/>
          </a:prstGeom>
          <a:noFill/>
          <a:ln/>
        </p:spPr>
        <p:txBody>
          <a:bodyPr wrap="square" lIns="0" tIns="0" rIns="0" bIns="0" rtlCol="0" anchor="t">
            <a:normAutofit/>
          </a:bodyPr>
          <a:lstStyle/>
          <a:p>
            <a:pPr algn="ctr" indent="0" marL="0">
              <a:lnSpc>
                <a:spcPts val="1400"/>
              </a:lnSpc>
              <a:buNone/>
            </a:pPr>
            <a:r>
              <a:rPr lang="en-US" sz="1400" dirty="0">
                <a:solidFill>
                  <a:srgbClr val="5CC8C4"/>
                </a:solidFill>
                <a:latin typeface="IBM Plex Sans" pitchFamily="34" charset="0"/>
                <a:ea typeface="IBM Plex Sans" pitchFamily="34" charset="-122"/>
                <a:cs typeface="IBM Plex Sans" pitchFamily="34" charset="-120"/>
              </a:rPr>
              <a:t>↓</a:t>
            </a:r>
            <a:endParaRPr lang="en-US" sz="1400" dirty="0"/>
          </a:p>
        </p:txBody>
      </p:sp>
      <p:sp>
        <p:nvSpPr>
          <p:cNvPr id="15" name="Shape 13"/>
          <p:cNvSpPr/>
          <p:nvPr/>
        </p:nvSpPr>
        <p:spPr>
          <a:xfrm>
            <a:off x="815975" y="4569718"/>
            <a:ext cx="2787650" cy="1131391"/>
          </a:xfrm>
          <a:prstGeom prst="roundRect">
            <a:avLst>
              <a:gd name="adj" fmla="val 8699"/>
            </a:avLst>
          </a:prstGeom>
          <a:solidFill>
            <a:srgbClr val="1B3550"/>
          </a:solidFill>
          <a:ln w="6350">
            <a:solidFill>
              <a:srgbClr val="2E4A66"/>
            </a:solidFill>
            <a:prstDash val="solid"/>
          </a:ln>
        </p:spPr>
      </p:sp>
      <p:sp>
        <p:nvSpPr>
          <p:cNvPr id="16" name="Text 14"/>
          <p:cNvSpPr/>
          <p:nvPr/>
        </p:nvSpPr>
        <p:spPr>
          <a:xfrm>
            <a:off x="971550" y="4699893"/>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3</a:t>
            </a:r>
            <a:endParaRPr lang="en-US" sz="1700" dirty="0"/>
          </a:p>
        </p:txBody>
      </p:sp>
      <p:sp>
        <p:nvSpPr>
          <p:cNvPr id="17" name="Text 15"/>
          <p:cNvSpPr/>
          <p:nvPr/>
        </p:nvSpPr>
        <p:spPr>
          <a:xfrm>
            <a:off x="1403350" y="4699893"/>
            <a:ext cx="21060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Registro</a:t>
            </a:r>
            <a:endParaRPr lang="en-US" sz="1500" dirty="0"/>
          </a:p>
        </p:txBody>
      </p:sp>
      <p:sp>
        <p:nvSpPr>
          <p:cNvPr id="18" name="Text 16"/>
          <p:cNvSpPr/>
          <p:nvPr/>
        </p:nvSpPr>
        <p:spPr>
          <a:xfrm>
            <a:off x="1403350" y="4953893"/>
            <a:ext cx="2106041"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CE4"/>
                </a:solidFill>
                <a:latin typeface="IBM Plex Sans" pitchFamily="34" charset="0"/>
                <a:ea typeface="IBM Plex Sans" pitchFamily="34" charset="-122"/>
                <a:cs typeface="IBM Plex Sans" pitchFamily="34" charset="-120"/>
              </a:rPr>
              <a:t>Una sola transacción: se guarda todo o nada. Deja una tarea en la cola</a:t>
            </a:r>
            <a:endParaRPr lang="en-US" sz="1200" dirty="0"/>
          </a:p>
        </p:txBody>
      </p:sp>
      <p:sp>
        <p:nvSpPr>
          <p:cNvPr id="19" name="Text 17"/>
          <p:cNvSpPr/>
          <p:nvPr/>
        </p:nvSpPr>
        <p:spPr>
          <a:xfrm>
            <a:off x="3606800" y="3684687"/>
            <a:ext cx="304800" cy="279400"/>
          </a:xfrm>
          <a:prstGeom prst="rect">
            <a:avLst/>
          </a:prstGeom>
          <a:noFill/>
          <a:ln/>
        </p:spPr>
        <p:txBody>
          <a:bodyPr wrap="square" lIns="0" tIns="0" rIns="0" bIns="0" rtlCol="0" anchor="t">
            <a:normAutofit/>
          </a:bodyPr>
          <a:lstStyle/>
          <a:p>
            <a:pPr algn="ctr" indent="0" marL="0">
              <a:lnSpc>
                <a:spcPts val="2000"/>
              </a:lnSpc>
              <a:buNone/>
            </a:pPr>
            <a:r>
              <a:rPr lang="en-US" sz="2000" dirty="0">
                <a:solidFill>
                  <a:srgbClr val="5CC8C4"/>
                </a:solidFill>
                <a:latin typeface="IBM Plex Sans" pitchFamily="34" charset="0"/>
                <a:ea typeface="IBM Plex Sans" pitchFamily="34" charset="-122"/>
                <a:cs typeface="IBM Plex Sans" pitchFamily="34" charset="-120"/>
              </a:rPr>
              <a:t>→</a:t>
            </a:r>
            <a:endParaRPr lang="en-US" sz="2000" dirty="0"/>
          </a:p>
        </p:txBody>
      </p:sp>
      <p:sp>
        <p:nvSpPr>
          <p:cNvPr id="20" name="Text 18"/>
          <p:cNvSpPr/>
          <p:nvPr/>
        </p:nvSpPr>
        <p:spPr>
          <a:xfrm>
            <a:off x="3911600" y="187950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B1C1"/>
                </a:solidFill>
                <a:latin typeface="IBM Plex Sans" pitchFamily="34" charset="0"/>
                <a:ea typeface="IBM Plex Sans" pitchFamily="34" charset="-122"/>
                <a:cs typeface="IBM Plex Sans" pitchFamily="34" charset="-120"/>
              </a:rPr>
              <a:t>EN SEGUNDO PLANO</a:t>
            </a:r>
            <a:endParaRPr lang="en-US" sz="1200" dirty="0"/>
          </a:p>
        </p:txBody>
      </p:sp>
      <p:sp>
        <p:nvSpPr>
          <p:cNvPr id="21" name="Shape 19"/>
          <p:cNvSpPr/>
          <p:nvPr/>
        </p:nvSpPr>
        <p:spPr>
          <a:xfrm>
            <a:off x="3917950" y="2149971"/>
            <a:ext cx="4940300" cy="3587651"/>
          </a:xfrm>
          <a:prstGeom prst="roundRect">
            <a:avLst>
              <a:gd name="adj" fmla="val 2655"/>
            </a:avLst>
          </a:prstGeom>
          <a:solidFill>
            <a:srgbClr val="1B3550"/>
          </a:solidFill>
          <a:ln w="12700">
            <a:solidFill>
              <a:srgbClr val="5CC8C4"/>
            </a:solidFill>
            <a:prstDash val="solid"/>
          </a:ln>
        </p:spPr>
      </p:sp>
      <p:sp>
        <p:nvSpPr>
          <p:cNvPr id="22" name="Text 20"/>
          <p:cNvSpPr/>
          <p:nvPr/>
        </p:nvSpPr>
        <p:spPr>
          <a:xfrm>
            <a:off x="4076700" y="2384822"/>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4</a:t>
            </a:r>
            <a:endParaRPr lang="en-US" sz="1700" dirty="0"/>
          </a:p>
        </p:txBody>
      </p:sp>
      <p:sp>
        <p:nvSpPr>
          <p:cNvPr id="23" name="Text 21"/>
          <p:cNvSpPr/>
          <p:nvPr/>
        </p:nvSpPr>
        <p:spPr>
          <a:xfrm>
            <a:off x="4508500" y="2320131"/>
            <a:ext cx="7440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Worker</a:t>
            </a:r>
            <a:endParaRPr lang="en-US" sz="1500" dirty="0"/>
          </a:p>
        </p:txBody>
      </p:sp>
      <p:sp>
        <p:nvSpPr>
          <p:cNvPr id="24" name="Text 22"/>
          <p:cNvSpPr/>
          <p:nvPr/>
        </p:nvSpPr>
        <p:spPr>
          <a:xfrm>
            <a:off x="5255716" y="2311896"/>
            <a:ext cx="2015232" cy="245070"/>
          </a:xfrm>
          <a:prstGeom prst="roundRect">
            <a:avLst>
              <a:gd name="adj" fmla="val 19433"/>
            </a:avLst>
          </a:prstGeom>
          <a:solidFill>
            <a:srgbClr val="12263A"/>
          </a:solidFill>
          <a:ln w="6350">
            <a:solidFill>
              <a:srgbClr val="2E4A66"/>
            </a:solidFill>
            <a:prstDash val="solid"/>
          </a:ln>
        </p:spPr>
        <p:txBody>
          <a:bodyPr wrap="none" lIns="0" tIns="0" rIns="0" bIns="0" rtlCol="0" anchor="ctr">
            <a:normAutofit/>
          </a:bodyPr>
          <a:lstStyle/>
          <a:p>
            <a:pPr algn="ctr" indent="0" marL="0">
              <a:lnSpc>
                <a:spcPts val="1680"/>
              </a:lnSpc>
              <a:buNone/>
            </a:pPr>
            <a:r>
              <a:rPr lang="en-US" sz="1200" dirty="0">
                <a:solidFill>
                  <a:srgbClr val="5CC8C4"/>
                </a:solidFill>
                <a:latin typeface="IBM Plex Sans" pitchFamily="34" charset="0"/>
                <a:ea typeface="IBM Plex Sans" pitchFamily="34" charset="-122"/>
                <a:cs typeface="IBM Plex Sans" pitchFamily="34" charset="-120"/>
              </a:rPr>
              <a:t>FOR UPDATE SKIP LOCKED</a:t>
            </a:r>
            <a:endParaRPr lang="en-US" sz="1200" dirty="0"/>
          </a:p>
        </p:txBody>
      </p:sp>
      <p:sp>
        <p:nvSpPr>
          <p:cNvPr id="25" name="Text 23"/>
          <p:cNvSpPr/>
          <p:nvPr/>
        </p:nvSpPr>
        <p:spPr>
          <a:xfrm>
            <a:off x="4508500" y="2585541"/>
            <a:ext cx="431673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CE4"/>
                </a:solidFill>
                <a:latin typeface="IBM Plex Sans" pitchFamily="34" charset="0"/>
                <a:ea typeface="IBM Plex Sans" pitchFamily="34" charset="-122"/>
                <a:cs typeface="IBM Plex Sans" pitchFamily="34" charset="-120"/>
              </a:rPr>
              <a:t>Cada 5 s revisa la cola y reclama la tarea como suya</a:t>
            </a:r>
            <a:endParaRPr lang="en-US" sz="1200" dirty="0"/>
          </a:p>
        </p:txBody>
      </p:sp>
      <p:sp>
        <p:nvSpPr>
          <p:cNvPr id="26" name="Shape 24"/>
          <p:cNvSpPr/>
          <p:nvPr/>
        </p:nvSpPr>
        <p:spPr>
          <a:xfrm>
            <a:off x="4076700" y="2880122"/>
            <a:ext cx="4622800" cy="6350"/>
          </a:xfrm>
          <a:prstGeom prst="rect">
            <a:avLst/>
          </a:prstGeom>
          <a:solidFill>
            <a:srgbClr val="2E4A66"/>
          </a:solidFill>
          <a:ln/>
        </p:spPr>
      </p:sp>
      <p:sp>
        <p:nvSpPr>
          <p:cNvPr id="27" name="Text 25"/>
          <p:cNvSpPr/>
          <p:nvPr/>
        </p:nvSpPr>
        <p:spPr>
          <a:xfrm>
            <a:off x="4076700" y="2975372"/>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5</a:t>
            </a:r>
            <a:endParaRPr lang="en-US" sz="1700" dirty="0"/>
          </a:p>
        </p:txBody>
      </p:sp>
      <p:sp>
        <p:nvSpPr>
          <p:cNvPr id="28" name="Text 26"/>
          <p:cNvSpPr/>
          <p:nvPr/>
        </p:nvSpPr>
        <p:spPr>
          <a:xfrm>
            <a:off x="4508500" y="3026172"/>
            <a:ext cx="28533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Pipeline · 7 pasos en orden</a:t>
            </a:r>
            <a:endParaRPr lang="en-US" sz="1500" dirty="0"/>
          </a:p>
        </p:txBody>
      </p:sp>
      <p:sp>
        <p:nvSpPr>
          <p:cNvPr id="29" name="Shape 27"/>
          <p:cNvSpPr/>
          <p:nvPr/>
        </p:nvSpPr>
        <p:spPr>
          <a:xfrm>
            <a:off x="4079875" y="3397647"/>
            <a:ext cx="4616450" cy="273050"/>
          </a:xfrm>
          <a:prstGeom prst="roundRect">
            <a:avLst>
              <a:gd name="adj" fmla="val 22093"/>
            </a:avLst>
          </a:prstGeom>
          <a:solidFill>
            <a:srgbClr val="12263A"/>
          </a:solidFill>
          <a:ln w="6350">
            <a:solidFill>
              <a:srgbClr val="2E4A66"/>
            </a:solidFill>
            <a:prstDash val="solid"/>
          </a:ln>
        </p:spPr>
      </p:sp>
      <p:sp>
        <p:nvSpPr>
          <p:cNvPr id="30" name="Text 28"/>
          <p:cNvSpPr/>
          <p:nvPr/>
        </p:nvSpPr>
        <p:spPr>
          <a:xfrm>
            <a:off x="4159250" y="34262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1</a:t>
            </a:r>
            <a:endParaRPr lang="en-US" sz="1200" dirty="0"/>
          </a:p>
        </p:txBody>
      </p:sp>
      <p:sp>
        <p:nvSpPr>
          <p:cNvPr id="31" name="Text 29"/>
          <p:cNvSpPr/>
          <p:nvPr/>
        </p:nvSpPr>
        <p:spPr>
          <a:xfrm>
            <a:off x="4464050" y="3435152"/>
            <a:ext cx="1298575"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Validar el FASTA</a:t>
            </a:r>
            <a:endParaRPr lang="en-US" sz="1300" dirty="0"/>
          </a:p>
        </p:txBody>
      </p:sp>
      <p:sp>
        <p:nvSpPr>
          <p:cNvPr id="32" name="Text 30"/>
          <p:cNvSpPr/>
          <p:nvPr/>
        </p:nvSpPr>
        <p:spPr>
          <a:xfrm>
            <a:off x="5717000" y="3427512"/>
            <a:ext cx="28745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A64B"/>
                </a:solidFill>
                <a:latin typeface="IBM Plex Sans" pitchFamily="34" charset="0"/>
                <a:ea typeface="IBM Plex Sans" pitchFamily="34" charset="-122"/>
                <a:cs typeface="IBM Plex Sans" pitchFamily="34" charset="-120"/>
              </a:rPr>
              <a:t>si falla → rechazada</a:t>
            </a:r>
            <a:endParaRPr lang="en-US" sz="1200" dirty="0"/>
          </a:p>
        </p:txBody>
      </p:sp>
      <p:sp>
        <p:nvSpPr>
          <p:cNvPr id="33" name="Shape 31"/>
          <p:cNvSpPr/>
          <p:nvPr/>
        </p:nvSpPr>
        <p:spPr>
          <a:xfrm>
            <a:off x="4079875" y="3715147"/>
            <a:ext cx="4616450" cy="273050"/>
          </a:xfrm>
          <a:prstGeom prst="roundRect">
            <a:avLst>
              <a:gd name="adj" fmla="val 22093"/>
            </a:avLst>
          </a:prstGeom>
          <a:solidFill>
            <a:srgbClr val="12263A"/>
          </a:solidFill>
          <a:ln w="6350">
            <a:solidFill>
              <a:srgbClr val="2E4A66"/>
            </a:solidFill>
            <a:prstDash val="solid"/>
          </a:ln>
        </p:spPr>
      </p:sp>
      <p:sp>
        <p:nvSpPr>
          <p:cNvPr id="34" name="Text 32"/>
          <p:cNvSpPr/>
          <p:nvPr/>
        </p:nvSpPr>
        <p:spPr>
          <a:xfrm>
            <a:off x="4159250" y="37437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2</a:t>
            </a:r>
            <a:endParaRPr lang="en-US" sz="1200" dirty="0"/>
          </a:p>
        </p:txBody>
      </p:sp>
      <p:sp>
        <p:nvSpPr>
          <p:cNvPr id="35" name="Text 33"/>
          <p:cNvSpPr/>
          <p:nvPr/>
        </p:nvSpPr>
        <p:spPr>
          <a:xfrm>
            <a:off x="4464050" y="3752652"/>
            <a:ext cx="1444625"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Control de calidad</a:t>
            </a:r>
            <a:endParaRPr lang="en-US" sz="1300" dirty="0"/>
          </a:p>
        </p:txBody>
      </p:sp>
      <p:sp>
        <p:nvSpPr>
          <p:cNvPr id="36" name="Text 34"/>
          <p:cNvSpPr/>
          <p:nvPr/>
        </p:nvSpPr>
        <p:spPr>
          <a:xfrm>
            <a:off x="5867432" y="3745012"/>
            <a:ext cx="272411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A64B"/>
                </a:solidFill>
                <a:latin typeface="IBM Plex Sans" pitchFamily="34" charset="0"/>
                <a:ea typeface="IBM Plex Sans" pitchFamily="34" charset="-122"/>
                <a:cs typeface="IBM Plex Sans" pitchFamily="34" charset="-120"/>
              </a:rPr>
              <a:t>mala calidad → rechazada</a:t>
            </a:r>
            <a:endParaRPr lang="en-US" sz="1200" dirty="0"/>
          </a:p>
        </p:txBody>
      </p:sp>
      <p:sp>
        <p:nvSpPr>
          <p:cNvPr id="37" name="Shape 35"/>
          <p:cNvSpPr/>
          <p:nvPr/>
        </p:nvSpPr>
        <p:spPr>
          <a:xfrm>
            <a:off x="4079875" y="4032647"/>
            <a:ext cx="4616450" cy="273050"/>
          </a:xfrm>
          <a:prstGeom prst="roundRect">
            <a:avLst>
              <a:gd name="adj" fmla="val 22093"/>
            </a:avLst>
          </a:prstGeom>
          <a:solidFill>
            <a:srgbClr val="12263A"/>
          </a:solidFill>
          <a:ln w="6350">
            <a:solidFill>
              <a:srgbClr val="2E4A66"/>
            </a:solidFill>
            <a:prstDash val="solid"/>
          </a:ln>
        </p:spPr>
      </p:sp>
      <p:sp>
        <p:nvSpPr>
          <p:cNvPr id="38" name="Text 36"/>
          <p:cNvSpPr/>
          <p:nvPr/>
        </p:nvSpPr>
        <p:spPr>
          <a:xfrm>
            <a:off x="4159250" y="40612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3</a:t>
            </a:r>
            <a:endParaRPr lang="en-US" sz="1200" dirty="0"/>
          </a:p>
        </p:txBody>
      </p:sp>
      <p:sp>
        <p:nvSpPr>
          <p:cNvPr id="39" name="Text 37"/>
          <p:cNvSpPr/>
          <p:nvPr/>
        </p:nvSpPr>
        <p:spPr>
          <a:xfrm>
            <a:off x="4464050" y="4070152"/>
            <a:ext cx="1404144"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Especie con Mash</a:t>
            </a:r>
            <a:endParaRPr lang="en-US" sz="1300" dirty="0"/>
          </a:p>
        </p:txBody>
      </p:sp>
      <p:sp>
        <p:nvSpPr>
          <p:cNvPr id="40" name="Text 38"/>
          <p:cNvSpPr/>
          <p:nvPr/>
        </p:nvSpPr>
        <p:spPr>
          <a:xfrm>
            <a:off x="5825736" y="4062512"/>
            <a:ext cx="276581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8A64B"/>
                </a:solidFill>
                <a:latin typeface="IBM Plex Sans" pitchFamily="34" charset="0"/>
                <a:ea typeface="IBM Plex Sans" pitchFamily="34" charset="-122"/>
                <a:cs typeface="IBM Plex Sans" pitchFamily="34" charset="-120"/>
              </a:rPr>
              <a:t>otra especie → rechazada</a:t>
            </a:r>
            <a:endParaRPr lang="en-US" sz="1200" dirty="0"/>
          </a:p>
        </p:txBody>
      </p:sp>
      <p:sp>
        <p:nvSpPr>
          <p:cNvPr id="41" name="Shape 39"/>
          <p:cNvSpPr/>
          <p:nvPr/>
        </p:nvSpPr>
        <p:spPr>
          <a:xfrm>
            <a:off x="4079875" y="4350147"/>
            <a:ext cx="4616450" cy="273050"/>
          </a:xfrm>
          <a:prstGeom prst="roundRect">
            <a:avLst>
              <a:gd name="adj" fmla="val 22093"/>
            </a:avLst>
          </a:prstGeom>
          <a:solidFill>
            <a:srgbClr val="12263A"/>
          </a:solidFill>
          <a:ln w="6350">
            <a:solidFill>
              <a:srgbClr val="2E4A66"/>
            </a:solidFill>
            <a:prstDash val="solid"/>
          </a:ln>
        </p:spPr>
      </p:sp>
      <p:sp>
        <p:nvSpPr>
          <p:cNvPr id="42" name="Text 40"/>
          <p:cNvSpPr/>
          <p:nvPr/>
        </p:nvSpPr>
        <p:spPr>
          <a:xfrm>
            <a:off x="4159250" y="43787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4</a:t>
            </a:r>
            <a:endParaRPr lang="en-US" sz="1200" dirty="0"/>
          </a:p>
        </p:txBody>
      </p:sp>
      <p:sp>
        <p:nvSpPr>
          <p:cNvPr id="43" name="Text 41"/>
          <p:cNvSpPr/>
          <p:nvPr/>
        </p:nvSpPr>
        <p:spPr>
          <a:xfrm>
            <a:off x="4464050" y="4387652"/>
            <a:ext cx="1579860"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Locus K con Kaptive</a:t>
            </a:r>
            <a:endParaRPr lang="en-US" sz="1300" dirty="0"/>
          </a:p>
        </p:txBody>
      </p:sp>
      <p:sp>
        <p:nvSpPr>
          <p:cNvPr id="44" name="Text 42"/>
          <p:cNvSpPr/>
          <p:nvPr/>
        </p:nvSpPr>
        <p:spPr>
          <a:xfrm>
            <a:off x="6006724" y="4380012"/>
            <a:ext cx="258482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tipo de cápsula</a:t>
            </a:r>
            <a:endParaRPr lang="en-US" sz="1200" dirty="0"/>
          </a:p>
        </p:txBody>
      </p:sp>
      <p:sp>
        <p:nvSpPr>
          <p:cNvPr id="45" name="Shape 43"/>
          <p:cNvSpPr/>
          <p:nvPr/>
        </p:nvSpPr>
        <p:spPr>
          <a:xfrm>
            <a:off x="4079875" y="4667647"/>
            <a:ext cx="4616450" cy="273050"/>
          </a:xfrm>
          <a:prstGeom prst="roundRect">
            <a:avLst>
              <a:gd name="adj" fmla="val 22093"/>
            </a:avLst>
          </a:prstGeom>
          <a:solidFill>
            <a:srgbClr val="12263A"/>
          </a:solidFill>
          <a:ln w="6350">
            <a:solidFill>
              <a:srgbClr val="2E4A66"/>
            </a:solidFill>
            <a:prstDash val="solid"/>
          </a:ln>
        </p:spPr>
      </p:sp>
      <p:sp>
        <p:nvSpPr>
          <p:cNvPr id="46" name="Text 44"/>
          <p:cNvSpPr/>
          <p:nvPr/>
        </p:nvSpPr>
        <p:spPr>
          <a:xfrm>
            <a:off x="4159250" y="46962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5</a:t>
            </a:r>
            <a:endParaRPr lang="en-US" sz="1200" dirty="0"/>
          </a:p>
        </p:txBody>
      </p:sp>
      <p:sp>
        <p:nvSpPr>
          <p:cNvPr id="47" name="Text 45"/>
          <p:cNvSpPr/>
          <p:nvPr/>
        </p:nvSpPr>
        <p:spPr>
          <a:xfrm>
            <a:off x="4464050" y="4705152"/>
            <a:ext cx="1519932"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Genes con Prodigal</a:t>
            </a:r>
            <a:endParaRPr lang="en-US" sz="1300" dirty="0"/>
          </a:p>
        </p:txBody>
      </p:sp>
      <p:sp>
        <p:nvSpPr>
          <p:cNvPr id="48" name="Text 46"/>
          <p:cNvSpPr/>
          <p:nvPr/>
        </p:nvSpPr>
        <p:spPr>
          <a:xfrm>
            <a:off x="5944998" y="4697512"/>
            <a:ext cx="264655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genes y proteínas</a:t>
            </a:r>
            <a:endParaRPr lang="en-US" sz="1200" dirty="0"/>
          </a:p>
        </p:txBody>
      </p:sp>
      <p:sp>
        <p:nvSpPr>
          <p:cNvPr id="49" name="Shape 47"/>
          <p:cNvSpPr/>
          <p:nvPr/>
        </p:nvSpPr>
        <p:spPr>
          <a:xfrm>
            <a:off x="4079875" y="4985147"/>
            <a:ext cx="4616450" cy="273050"/>
          </a:xfrm>
          <a:prstGeom prst="roundRect">
            <a:avLst>
              <a:gd name="adj" fmla="val 22093"/>
            </a:avLst>
          </a:prstGeom>
          <a:solidFill>
            <a:srgbClr val="12263A"/>
          </a:solidFill>
          <a:ln w="6350">
            <a:solidFill>
              <a:srgbClr val="2E4A66"/>
            </a:solidFill>
            <a:prstDash val="solid"/>
          </a:ln>
        </p:spPr>
      </p:sp>
      <p:sp>
        <p:nvSpPr>
          <p:cNvPr id="50" name="Text 48"/>
          <p:cNvSpPr/>
          <p:nvPr/>
        </p:nvSpPr>
        <p:spPr>
          <a:xfrm>
            <a:off x="4159250" y="5013722"/>
            <a:ext cx="215900" cy="215900"/>
          </a:xfrm>
          <a:custGeom>
            <a:avLst/>
            <a:gdLst/>
            <a:ahLst/>
            <a:cxnLst/>
            <a:rect l="l" t="t" r="r" b="b"/>
            <a:pathLst>
              <a:path w="215900" h="215900">
                <a:moveTo>
                  <a:pt x="50800" y="0"/>
                </a:moveTo>
                <a:lnTo>
                  <a:pt x="165100" y="0"/>
                </a:lnTo>
                <a:arcTo hR="50800" wR="50800" stAng="16200000" swAng="5400000"/>
                <a:lnTo>
                  <a:pt x="215900" y="165100"/>
                </a:lnTo>
                <a:arcTo hR="50800" wR="50800" stAng="0" swAng="5400000"/>
                <a:lnTo>
                  <a:pt x="50800" y="215900"/>
                </a:lnTo>
                <a:arcTo hR="50800" wR="50800" stAng="5400000" swAng="5400000"/>
                <a:lnTo>
                  <a:pt x="0" y="50800"/>
                </a:lnTo>
                <a:arcTo hR="50800" wR="50800" stAng="10800000" swAng="5400000"/>
                <a:close/>
              </a:path>
            </a:pathLst>
          </a:custGeom>
          <a:solidFill>
            <a:srgbClr val="2E4A66"/>
          </a:solidFill>
          <a:ln/>
        </p:spPr>
        <p:txBody>
          <a:bodyPr wrap="square" lIns="0" tIns="0" rIns="0" bIns="0" rtlCol="0" anchor="ctr">
            <a:normAutofit/>
          </a:bodyPr>
          <a:lstStyle/>
          <a:p>
            <a:pPr algn="ctr" indent="0" marL="0">
              <a:lnSpc>
                <a:spcPts val="1200"/>
              </a:lnSpc>
              <a:buNone/>
            </a:pPr>
            <a:r>
              <a:rPr lang="en-US" sz="1200" b="1" dirty="0">
                <a:solidFill>
                  <a:srgbClr val="F6F7F4"/>
                </a:solidFill>
                <a:latin typeface="IBM Plex Sans" pitchFamily="34" charset="0"/>
                <a:ea typeface="IBM Plex Sans" pitchFamily="34" charset="-122"/>
                <a:cs typeface="IBM Plex Sans" pitchFamily="34" charset="-120"/>
              </a:rPr>
              <a:t>6</a:t>
            </a:r>
            <a:endParaRPr lang="en-US" sz="1200" dirty="0"/>
          </a:p>
        </p:txBody>
      </p:sp>
      <p:sp>
        <p:nvSpPr>
          <p:cNvPr id="51" name="Text 49"/>
          <p:cNvSpPr/>
          <p:nvPr/>
        </p:nvSpPr>
        <p:spPr>
          <a:xfrm>
            <a:off x="4464050" y="5022652"/>
            <a:ext cx="678160"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6F7F4"/>
                </a:solidFill>
                <a:latin typeface="IBM Plex Sans" pitchFamily="34" charset="0"/>
                <a:ea typeface="IBM Plex Sans" pitchFamily="34" charset="-122"/>
                <a:cs typeface="IBM Plex Sans" pitchFamily="34" charset="-120"/>
              </a:rPr>
              <a:t>Guardar</a:t>
            </a:r>
            <a:endParaRPr lang="en-US" sz="1300" dirty="0"/>
          </a:p>
        </p:txBody>
      </p:sp>
      <p:sp>
        <p:nvSpPr>
          <p:cNvPr id="52" name="Text 50"/>
          <p:cNvSpPr/>
          <p:nvPr/>
        </p:nvSpPr>
        <p:spPr>
          <a:xfrm>
            <a:off x="5077973" y="5015012"/>
            <a:ext cx="351357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crudo → MongoDB · resumen → PostgreSQL</a:t>
            </a:r>
            <a:endParaRPr lang="en-US" sz="1200" dirty="0"/>
          </a:p>
        </p:txBody>
      </p:sp>
      <p:sp>
        <p:nvSpPr>
          <p:cNvPr id="53" name="Shape 51"/>
          <p:cNvSpPr/>
          <p:nvPr/>
        </p:nvSpPr>
        <p:spPr>
          <a:xfrm>
            <a:off x="4083050" y="5305822"/>
            <a:ext cx="4610100" cy="266700"/>
          </a:xfrm>
          <a:prstGeom prst="roundRect">
            <a:avLst>
              <a:gd name="adj" fmla="val 21429"/>
            </a:avLst>
          </a:prstGeom>
          <a:noFill/>
          <a:ln w="12700">
            <a:solidFill>
              <a:srgbClr val="9FB1C1"/>
            </a:solidFill>
            <a:prstDash val="dash"/>
          </a:ln>
        </p:spPr>
      </p:sp>
      <p:sp>
        <p:nvSpPr>
          <p:cNvPr id="54" name="Text 52"/>
          <p:cNvSpPr/>
          <p:nvPr/>
        </p:nvSpPr>
        <p:spPr>
          <a:xfrm>
            <a:off x="4171950" y="5337572"/>
            <a:ext cx="203200" cy="203200"/>
          </a:xfrm>
          <a:custGeom>
            <a:avLst/>
            <a:gdLst/>
            <a:ahLst/>
            <a:cxnLst/>
            <a:rect l="l" t="t" r="r" b="b"/>
            <a:pathLst>
              <a:path w="203200" h="203200">
                <a:moveTo>
                  <a:pt x="44450" y="0"/>
                </a:moveTo>
                <a:lnTo>
                  <a:pt x="158750" y="0"/>
                </a:lnTo>
                <a:arcTo hR="44450" wR="44450" stAng="16200000" swAng="5400000"/>
                <a:lnTo>
                  <a:pt x="203200" y="158750"/>
                </a:lnTo>
                <a:arcTo hR="44450" wR="44450" stAng="0" swAng="5400000"/>
                <a:lnTo>
                  <a:pt x="44450" y="203200"/>
                </a:lnTo>
                <a:arcTo hR="44450" wR="44450" stAng="5400000" swAng="5400000"/>
                <a:lnTo>
                  <a:pt x="0" y="44450"/>
                </a:lnTo>
                <a:arcTo hR="44450" wR="44450" stAng="10800000" swAng="5400000"/>
                <a:close/>
              </a:path>
            </a:pathLst>
          </a:custGeom>
          <a:noFill/>
          <a:ln w="12700">
            <a:solidFill>
              <a:srgbClr val="9FB1C1"/>
            </a:solidFill>
            <a:prstDash val="dash"/>
          </a:ln>
        </p:spPr>
        <p:txBody>
          <a:bodyPr wrap="square" lIns="6350" tIns="6350" rIns="6350" bIns="6350" rtlCol="0" anchor="ctr">
            <a:normAutofit/>
          </a:bodyPr>
          <a:lstStyle/>
          <a:p>
            <a:pPr algn="ctr" indent="0" marL="0">
              <a:lnSpc>
                <a:spcPts val="1200"/>
              </a:lnSpc>
              <a:buNone/>
            </a:pPr>
            <a:r>
              <a:rPr lang="en-US" sz="1200" b="1" dirty="0">
                <a:solidFill>
                  <a:srgbClr val="D3DCE4"/>
                </a:solidFill>
                <a:latin typeface="IBM Plex Sans" pitchFamily="34" charset="0"/>
                <a:ea typeface="IBM Plex Sans" pitchFamily="34" charset="-122"/>
                <a:cs typeface="IBM Plex Sans" pitchFamily="34" charset="-120"/>
              </a:rPr>
              <a:t>7</a:t>
            </a:r>
            <a:endParaRPr lang="en-US" sz="1200" dirty="0"/>
          </a:p>
        </p:txBody>
      </p:sp>
      <p:sp>
        <p:nvSpPr>
          <p:cNvPr id="55" name="Text 53"/>
          <p:cNvSpPr/>
          <p:nvPr/>
        </p:nvSpPr>
        <p:spPr>
          <a:xfrm>
            <a:off x="4470400" y="5340152"/>
            <a:ext cx="1651893" cy="223441"/>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D3DCE4"/>
                </a:solidFill>
                <a:latin typeface="IBM Plex Sans" pitchFamily="34" charset="0"/>
                <a:ea typeface="IBM Plex Sans" pitchFamily="34" charset="-122"/>
                <a:cs typeface="IBM Plex Sans" pitchFamily="34" charset="-120"/>
              </a:rPr>
              <a:t>Encolar la predicción</a:t>
            </a:r>
            <a:endParaRPr lang="en-US" sz="1300" dirty="0"/>
          </a:p>
        </p:txBody>
      </p:sp>
      <p:sp>
        <p:nvSpPr>
          <p:cNvPr id="56" name="Text 54"/>
          <p:cNvSpPr/>
          <p:nvPr/>
        </p:nvSpPr>
        <p:spPr>
          <a:xfrm>
            <a:off x="6087649" y="5332512"/>
            <a:ext cx="249755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nadie la consume todavía</a:t>
            </a:r>
            <a:endParaRPr lang="en-US" sz="1200" dirty="0"/>
          </a:p>
        </p:txBody>
      </p:sp>
      <p:sp>
        <p:nvSpPr>
          <p:cNvPr id="57" name="Text 55"/>
          <p:cNvSpPr/>
          <p:nvPr/>
        </p:nvSpPr>
        <p:spPr>
          <a:xfrm>
            <a:off x="8864600" y="3684687"/>
            <a:ext cx="304800" cy="279400"/>
          </a:xfrm>
          <a:prstGeom prst="rect">
            <a:avLst/>
          </a:prstGeom>
          <a:noFill/>
          <a:ln/>
        </p:spPr>
        <p:txBody>
          <a:bodyPr wrap="square" lIns="0" tIns="0" rIns="0" bIns="0" rtlCol="0" anchor="t">
            <a:normAutofit/>
          </a:bodyPr>
          <a:lstStyle/>
          <a:p>
            <a:pPr algn="ctr" indent="0" marL="0">
              <a:lnSpc>
                <a:spcPts val="2000"/>
              </a:lnSpc>
              <a:buNone/>
            </a:pPr>
            <a:r>
              <a:rPr lang="en-US" sz="2000" dirty="0">
                <a:solidFill>
                  <a:srgbClr val="5CC8C4"/>
                </a:solidFill>
                <a:latin typeface="IBM Plex Sans" pitchFamily="34" charset="0"/>
                <a:ea typeface="IBM Plex Sans" pitchFamily="34" charset="-122"/>
                <a:cs typeface="IBM Plex Sans" pitchFamily="34" charset="-120"/>
              </a:rPr>
              <a:t>→</a:t>
            </a:r>
            <a:endParaRPr lang="en-US" sz="2000" dirty="0"/>
          </a:p>
        </p:txBody>
      </p:sp>
      <p:sp>
        <p:nvSpPr>
          <p:cNvPr id="58" name="Text 56"/>
          <p:cNvSpPr/>
          <p:nvPr/>
        </p:nvSpPr>
        <p:spPr>
          <a:xfrm>
            <a:off x="9169400" y="1879501"/>
            <a:ext cx="22760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FB1C1"/>
                </a:solidFill>
                <a:latin typeface="IBM Plex Sans" pitchFamily="34" charset="0"/>
                <a:ea typeface="IBM Plex Sans" pitchFamily="34" charset="-122"/>
                <a:cs typeface="IBM Plex Sans" pitchFamily="34" charset="-120"/>
              </a:rPr>
              <a:t>EN PANTALLA</a:t>
            </a:r>
            <a:endParaRPr lang="en-US" sz="1200" dirty="0"/>
          </a:p>
        </p:txBody>
      </p:sp>
      <p:sp>
        <p:nvSpPr>
          <p:cNvPr id="59" name="Shape 57"/>
          <p:cNvSpPr/>
          <p:nvPr/>
        </p:nvSpPr>
        <p:spPr>
          <a:xfrm>
            <a:off x="9172575" y="2146796"/>
            <a:ext cx="2203450" cy="3594001"/>
          </a:xfrm>
          <a:prstGeom prst="roundRect">
            <a:avLst>
              <a:gd name="adj" fmla="val 4467"/>
            </a:avLst>
          </a:prstGeom>
          <a:solidFill>
            <a:srgbClr val="1B3550"/>
          </a:solidFill>
          <a:ln w="6350">
            <a:solidFill>
              <a:srgbClr val="2E4A66"/>
            </a:solidFill>
            <a:prstDash val="solid"/>
          </a:ln>
        </p:spPr>
      </p:sp>
      <p:sp>
        <p:nvSpPr>
          <p:cNvPr id="60" name="Text 58"/>
          <p:cNvSpPr/>
          <p:nvPr/>
        </p:nvSpPr>
        <p:spPr>
          <a:xfrm>
            <a:off x="9353550" y="2327771"/>
            <a:ext cx="330200" cy="330200"/>
          </a:xfrm>
          <a:prstGeom prst="roundRect">
            <a:avLst>
              <a:gd name="adj" fmla="val 50000"/>
            </a:avLst>
          </a:prstGeom>
          <a:solidFill>
            <a:srgbClr val="5CC8C4"/>
          </a:solidFill>
          <a:ln/>
        </p:spPr>
        <p:txBody>
          <a:bodyPr wrap="square" lIns="0" tIns="0" rIns="0" bIns="0" rtlCol="0" anchor="ctr">
            <a:normAutofit/>
          </a:bodyPr>
          <a:lstStyle/>
          <a:p>
            <a:pPr algn="ctr" indent="0" marL="0">
              <a:lnSpc>
                <a:spcPts val="1700"/>
              </a:lnSpc>
              <a:buNone/>
            </a:pPr>
            <a:r>
              <a:rPr lang="en-US" sz="1700" b="1" dirty="0">
                <a:solidFill>
                  <a:srgbClr val="12263A"/>
                </a:solidFill>
                <a:latin typeface="EB Garamond" pitchFamily="18" charset="0"/>
                <a:ea typeface="EB Garamond" pitchFamily="18" charset="-122"/>
                <a:cs typeface="EB Garamond" pitchFamily="18" charset="-120"/>
              </a:rPr>
              <a:t>6</a:t>
            </a:r>
            <a:endParaRPr lang="en-US" sz="1700" dirty="0"/>
          </a:p>
        </p:txBody>
      </p:sp>
      <p:sp>
        <p:nvSpPr>
          <p:cNvPr id="61" name="Text 59"/>
          <p:cNvSpPr/>
          <p:nvPr/>
        </p:nvSpPr>
        <p:spPr>
          <a:xfrm>
            <a:off x="9353550" y="2759571"/>
            <a:ext cx="189674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La web</a:t>
            </a:r>
            <a:endParaRPr lang="en-US" sz="1500" dirty="0"/>
          </a:p>
        </p:txBody>
      </p:sp>
      <p:sp>
        <p:nvSpPr>
          <p:cNvPr id="62" name="Text 60"/>
          <p:cNvSpPr/>
          <p:nvPr/>
        </p:nvSpPr>
        <p:spPr>
          <a:xfrm>
            <a:off x="9353550" y="3089771"/>
            <a:ext cx="189674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3DCE4"/>
                </a:solidFill>
                <a:latin typeface="IBM Plex Sans" pitchFamily="34" charset="0"/>
                <a:ea typeface="IBM Plex Sans" pitchFamily="34" charset="-122"/>
                <a:cs typeface="IBM Plex Sans" pitchFamily="34" charset="-120"/>
              </a:rPr>
              <a:t>Pregunta el estado a la API cada pocos segundos y muestra el resultado</a:t>
            </a:r>
            <a:endParaRPr lang="en-US" sz="1200" dirty="0"/>
          </a:p>
        </p:txBody>
      </p:sp>
      <p:sp>
        <p:nvSpPr>
          <p:cNvPr id="63" name="Text 61"/>
          <p:cNvSpPr/>
          <p:nvPr/>
        </p:nvSpPr>
        <p:spPr>
          <a:xfrm>
            <a:off x="9353550" y="4485580"/>
            <a:ext cx="1896745" cy="431800"/>
          </a:xfrm>
          <a:prstGeom prst="rect">
            <a:avLst/>
          </a:prstGeom>
          <a:noFill/>
          <a:ln/>
        </p:spPr>
        <p:txBody>
          <a:bodyPr wrap="square" lIns="0" tIns="0" rIns="0" bIns="0" rtlCol="0" anchor="t">
            <a:normAutofit/>
          </a:bodyPr>
          <a:lstStyle/>
          <a:p>
            <a:pPr algn="l" indent="0" marL="0">
              <a:lnSpc>
                <a:spcPts val="3200"/>
              </a:lnSpc>
              <a:buNone/>
            </a:pPr>
            <a:r>
              <a:rPr lang="en-US" sz="3200" dirty="0">
                <a:solidFill>
                  <a:srgbClr val="5CC8C4"/>
                </a:solidFill>
                <a:latin typeface="IBM Plex Sans" pitchFamily="34" charset="0"/>
                <a:ea typeface="IBM Plex Sans" pitchFamily="34" charset="-122"/>
                <a:cs typeface="IBM Plex Sans" pitchFamily="34" charset="-120"/>
              </a:rPr>
              <a:t>↻</a:t>
            </a:r>
            <a:endParaRPr lang="en-US" sz="3200" dirty="0"/>
          </a:p>
        </p:txBody>
      </p:sp>
      <p:sp>
        <p:nvSpPr>
          <p:cNvPr id="64" name="Text 62"/>
          <p:cNvSpPr/>
          <p:nvPr/>
        </p:nvSpPr>
        <p:spPr>
          <a:xfrm>
            <a:off x="9353550" y="4942780"/>
            <a:ext cx="1896745"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9FB1C1"/>
                </a:solidFill>
                <a:latin typeface="IBM Plex Sans" pitchFamily="34" charset="0"/>
                <a:ea typeface="IBM Plex Sans" pitchFamily="34" charset="-122"/>
                <a:cs typeface="IBM Plex Sans" pitchFamily="34" charset="-120"/>
              </a:rPr>
              <a:t>En la demostración, el resultado aparece en unos 20 s</a:t>
            </a:r>
            <a:endParaRPr lang="en-US" sz="1200" dirty="0"/>
          </a:p>
        </p:txBody>
      </p:sp>
      <p:sp>
        <p:nvSpPr>
          <p:cNvPr id="65" name="Text 63"/>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SIRFA · Informe de Avance</a:t>
            </a:r>
            <a:endParaRPr lang="en-US" sz="1200" dirty="0"/>
          </a:p>
        </p:txBody>
      </p:sp>
      <p:sp>
        <p:nvSpPr>
          <p:cNvPr id="66" name="Text 6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12 / 21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ERRORES Y REINTENTOS DEL PIPELINE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Cada tipo de error tiene su propia respuesta</a:t>
            </a:r>
            <a:endParaRPr lang="en-US" sz="3200" dirty="0"/>
          </a:p>
        </p:txBody>
      </p:sp>
      <p:sp>
        <p:nvSpPr>
          <p:cNvPr id="4" name="Shape 2"/>
          <p:cNvSpPr/>
          <p:nvPr/>
        </p:nvSpPr>
        <p:spPr>
          <a:xfrm>
            <a:off x="819150" y="1885851"/>
            <a:ext cx="3390900" cy="1664692"/>
          </a:xfrm>
          <a:prstGeom prst="roundRect">
            <a:avLst>
              <a:gd name="adj" fmla="val 5722"/>
            </a:avLst>
          </a:prstGeom>
          <a:solidFill>
            <a:srgbClr val="FFF6E5"/>
          </a:solidFill>
          <a:ln w="12700">
            <a:solidFill>
              <a:srgbClr val="E8A64B"/>
            </a:solidFill>
            <a:prstDash val="solid"/>
          </a:ln>
        </p:spPr>
      </p:sp>
      <p:sp>
        <p:nvSpPr>
          <p:cNvPr id="5" name="Text 3"/>
          <p:cNvSpPr/>
          <p:nvPr/>
        </p:nvSpPr>
        <p:spPr>
          <a:xfrm>
            <a:off x="1003300" y="2044601"/>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4B00"/>
                </a:solidFill>
                <a:latin typeface="IBM Plex Sans" pitchFamily="34" charset="0"/>
                <a:ea typeface="IBM Plex Sans" pitchFamily="34" charset="-122"/>
                <a:cs typeface="IBM Plex Sans" pitchFamily="34" charset="-120"/>
              </a:rPr>
              <a:t>Datos que no sirven</a:t>
            </a:r>
            <a:endParaRPr lang="en-US" sz="1600" dirty="0"/>
          </a:p>
        </p:txBody>
      </p:sp>
      <p:sp>
        <p:nvSpPr>
          <p:cNvPr id="6" name="Text 4"/>
          <p:cNvSpPr/>
          <p:nvPr/>
        </p:nvSpPr>
        <p:spPr>
          <a:xfrm>
            <a:off x="1003300" y="2339181"/>
            <a:ext cx="311327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FASTA inválido, genoma de mala calidad o especie distinta</a:t>
            </a:r>
            <a:endParaRPr lang="en-US" sz="1300" dirty="0"/>
          </a:p>
        </p:txBody>
      </p:sp>
      <p:sp>
        <p:nvSpPr>
          <p:cNvPr id="7" name="Text 5"/>
          <p:cNvSpPr/>
          <p:nvPr/>
        </p:nvSpPr>
        <p:spPr>
          <a:xfrm>
            <a:off x="1003300" y="2886472"/>
            <a:ext cx="19025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Se rechaza al instante</a:t>
            </a:r>
            <a:endParaRPr lang="en-US" sz="1400" dirty="0"/>
          </a:p>
        </p:txBody>
      </p:sp>
      <p:sp>
        <p:nvSpPr>
          <p:cNvPr id="8" name="Text 6"/>
          <p:cNvSpPr/>
          <p:nvPr/>
        </p:nvSpPr>
        <p:spPr>
          <a:xfrm>
            <a:off x="2905820" y="2891532"/>
            <a:ext cx="913309" cy="238720"/>
          </a:xfrm>
          <a:custGeom>
            <a:avLst/>
            <a:gdLst/>
            <a:ahLst/>
            <a:cxnLst/>
            <a:rect l="l" t="t" r="r" b="b"/>
            <a:pathLst>
              <a:path w="913309" h="238720">
                <a:moveTo>
                  <a:pt x="119360" y="0"/>
                </a:moveTo>
                <a:lnTo>
                  <a:pt x="793948" y="0"/>
                </a:lnTo>
                <a:arcTo hR="119360" wR="119360" stAng="16200000" swAng="5400000"/>
                <a:lnTo>
                  <a:pt x="913309" y="119360"/>
                </a:lnTo>
                <a:arcTo hR="119360" wR="119360" stAng="0" swAng="5400000"/>
                <a:lnTo>
                  <a:pt x="119360" y="238720"/>
                </a:lnTo>
                <a:arcTo hR="119360" wR="119360" stAng="5400000" swAng="5400000"/>
                <a:lnTo>
                  <a:pt x="0" y="119360"/>
                </a:lnTo>
                <a:arcTo hR="119360" wR="119360" stAng="10800000" swAng="5400000"/>
                <a:close/>
              </a:path>
            </a:pathLst>
          </a:custGeom>
          <a:solidFill>
            <a:srgbClr val="E8A64B"/>
          </a:solidFill>
          <a:ln/>
        </p:spPr>
        <p:txBody>
          <a:bodyPr wrap="none" lIns="0" tIns="0" rIns="0" bIns="0" rtlCol="0" anchor="ctr">
            <a:normAutofit/>
          </a:bodyPr>
          <a:lstStyle/>
          <a:p>
            <a:pPr algn="ctr" indent="0" marL="0">
              <a:lnSpc>
                <a:spcPts val="1680"/>
              </a:lnSpc>
              <a:buNone/>
            </a:pPr>
            <a:r>
              <a:rPr lang="en-US" sz="1200" b="1" dirty="0">
                <a:solidFill>
                  <a:srgbClr val="3A2500"/>
                </a:solidFill>
                <a:latin typeface="IBM Plex Sans" pitchFamily="34" charset="0"/>
                <a:ea typeface="IBM Plex Sans" pitchFamily="34" charset="-122"/>
                <a:cs typeface="IBM Plex Sans" pitchFamily="34" charset="-120"/>
              </a:rPr>
              <a:t>rechazada</a:t>
            </a:r>
            <a:endParaRPr lang="en-US" sz="1200" dirty="0"/>
          </a:p>
        </p:txBody>
      </p:sp>
      <p:sp>
        <p:nvSpPr>
          <p:cNvPr id="9" name="Text 7"/>
          <p:cNvSpPr/>
          <p:nvPr/>
        </p:nvSpPr>
        <p:spPr>
          <a:xfrm>
            <a:off x="1003300" y="3186113"/>
            <a:ext cx="311327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66A"/>
                </a:solidFill>
                <a:latin typeface="IBM Plex Sans" pitchFamily="34" charset="0"/>
                <a:ea typeface="IBM Plex Sans" pitchFamily="34" charset="-122"/>
                <a:cs typeface="IBM Plex Sans" pitchFamily="34" charset="-120"/>
              </a:rPr>
              <a:t>Reintentar daría el mismo resultado</a:t>
            </a:r>
            <a:endParaRPr lang="en-US" sz="1200" dirty="0"/>
          </a:p>
        </p:txBody>
      </p:sp>
      <p:sp>
        <p:nvSpPr>
          <p:cNvPr id="10" name="Shape 8"/>
          <p:cNvSpPr/>
          <p:nvPr/>
        </p:nvSpPr>
        <p:spPr>
          <a:xfrm>
            <a:off x="4400550" y="1885851"/>
            <a:ext cx="3390900" cy="1664692"/>
          </a:xfrm>
          <a:prstGeom prst="roundRect">
            <a:avLst>
              <a:gd name="adj" fmla="val 5722"/>
            </a:avLst>
          </a:prstGeom>
          <a:solidFill>
            <a:srgbClr val="E4F1F0"/>
          </a:solidFill>
          <a:ln w="12700">
            <a:solidFill>
              <a:srgbClr val="17706F"/>
            </a:solidFill>
            <a:prstDash val="solid"/>
          </a:ln>
        </p:spPr>
      </p:sp>
      <p:sp>
        <p:nvSpPr>
          <p:cNvPr id="11" name="Text 9"/>
          <p:cNvSpPr/>
          <p:nvPr/>
        </p:nvSpPr>
        <p:spPr>
          <a:xfrm>
            <a:off x="4584700" y="2044601"/>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5251"/>
                </a:solidFill>
                <a:latin typeface="IBM Plex Sans" pitchFamily="34" charset="0"/>
                <a:ea typeface="IBM Plex Sans" pitchFamily="34" charset="-122"/>
                <a:cs typeface="IBM Plex Sans" pitchFamily="34" charset="-120"/>
              </a:rPr>
              <a:t>Falla de una herramienta</a:t>
            </a:r>
            <a:endParaRPr lang="en-US" sz="1600" dirty="0"/>
          </a:p>
        </p:txBody>
      </p:sp>
      <p:sp>
        <p:nvSpPr>
          <p:cNvPr id="12" name="Text 10"/>
          <p:cNvSpPr/>
          <p:nvPr/>
        </p:nvSpPr>
        <p:spPr>
          <a:xfrm>
            <a:off x="4584700" y="2339181"/>
            <a:ext cx="311327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Un programa del análisis se cae, se demora de más o no responde</a:t>
            </a:r>
            <a:endParaRPr lang="en-US" sz="1300" dirty="0"/>
          </a:p>
        </p:txBody>
      </p:sp>
      <p:sp>
        <p:nvSpPr>
          <p:cNvPr id="13" name="Text 11"/>
          <p:cNvSpPr/>
          <p:nvPr/>
        </p:nvSpPr>
        <p:spPr>
          <a:xfrm>
            <a:off x="4584700" y="2886472"/>
            <a:ext cx="10958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Se reintenta</a:t>
            </a:r>
            <a:endParaRPr lang="en-US" sz="1400" dirty="0"/>
          </a:p>
        </p:txBody>
      </p:sp>
      <p:sp>
        <p:nvSpPr>
          <p:cNvPr id="14" name="Text 12"/>
          <p:cNvSpPr/>
          <p:nvPr/>
        </p:nvSpPr>
        <p:spPr>
          <a:xfrm>
            <a:off x="5680571" y="2891532"/>
            <a:ext cx="1313855" cy="238720"/>
          </a:xfrm>
          <a:custGeom>
            <a:avLst/>
            <a:gdLst/>
            <a:ahLst/>
            <a:cxnLst/>
            <a:rect l="l" t="t" r="r" b="b"/>
            <a:pathLst>
              <a:path w="1313855" h="238720">
                <a:moveTo>
                  <a:pt x="119360" y="0"/>
                </a:moveTo>
                <a:lnTo>
                  <a:pt x="1194495" y="0"/>
                </a:lnTo>
                <a:arcTo hR="119360" wR="119360" stAng="16200000" swAng="5400000"/>
                <a:lnTo>
                  <a:pt x="1313855" y="119360"/>
                </a:lnTo>
                <a:arcTo hR="119360" wR="119360" stAng="0" swAng="5400000"/>
                <a:lnTo>
                  <a:pt x="119360" y="238720"/>
                </a:lnTo>
                <a:arcTo hR="119360" wR="119360" stAng="5400000" swAng="5400000"/>
                <a:lnTo>
                  <a:pt x="0" y="119360"/>
                </a:lnTo>
                <a:arcTo hR="119360" wR="119360" stAng="10800000" swAng="5400000"/>
                <a:close/>
              </a:path>
            </a:pathLst>
          </a:custGeom>
          <a:solidFill>
            <a:srgbClr val="17706F"/>
          </a:solidFill>
          <a:ln/>
        </p:spPr>
        <p:txBody>
          <a:bodyPr wrap="none" lIns="0" tIns="0" rIns="0" bIns="0" rtlCol="0" anchor="ctr">
            <a:normAutofit/>
          </a:bodyPr>
          <a:lstStyle/>
          <a:p>
            <a:pPr algn="ctr" indent="0" marL="0">
              <a:lnSpc>
                <a:spcPts val="1680"/>
              </a:lnSpc>
              <a:buNone/>
            </a:pPr>
            <a:r>
              <a:rPr lang="en-US" sz="1200" b="1" dirty="0">
                <a:solidFill>
                  <a:srgbClr val="FFFFFF"/>
                </a:solidFill>
                <a:latin typeface="IBM Plex Sans" pitchFamily="34" charset="0"/>
                <a:ea typeface="IBM Plex Sans" pitchFamily="34" charset="-122"/>
                <a:cs typeface="IBM Plex Sans" pitchFamily="34" charset="-120"/>
              </a:rPr>
              <a:t>hasta 3 intentos</a:t>
            </a:r>
            <a:endParaRPr lang="en-US" sz="1200" dirty="0"/>
          </a:p>
        </p:txBody>
      </p:sp>
      <p:sp>
        <p:nvSpPr>
          <p:cNvPr id="15" name="Text 13"/>
          <p:cNvSpPr/>
          <p:nvPr/>
        </p:nvSpPr>
        <p:spPr>
          <a:xfrm>
            <a:off x="4584700" y="3186113"/>
            <a:ext cx="320040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66A"/>
                </a:solidFill>
                <a:latin typeface="IBM Plex Sans" pitchFamily="34" charset="0"/>
                <a:ea typeface="IBM Plex Sans" pitchFamily="34" charset="-122"/>
                <a:cs typeface="IBM Plex Sans" pitchFamily="34" charset="-120"/>
              </a:rPr>
              <a:t>Con espera creciente entre un intento y otro</a:t>
            </a:r>
            <a:endParaRPr lang="en-US" sz="1200" dirty="0"/>
          </a:p>
        </p:txBody>
      </p:sp>
      <p:sp>
        <p:nvSpPr>
          <p:cNvPr id="16" name="Shape 14"/>
          <p:cNvSpPr/>
          <p:nvPr/>
        </p:nvSpPr>
        <p:spPr>
          <a:xfrm>
            <a:off x="7981950" y="1885851"/>
            <a:ext cx="3390900" cy="1664692"/>
          </a:xfrm>
          <a:prstGeom prst="roundRect">
            <a:avLst>
              <a:gd name="adj" fmla="val 5722"/>
            </a:avLst>
          </a:prstGeom>
          <a:solidFill>
            <a:srgbClr val="FFFFFF"/>
          </a:solidFill>
          <a:ln w="12700">
            <a:solidFill>
              <a:srgbClr val="D5DCE1"/>
            </a:solidFill>
            <a:prstDash val="solid"/>
          </a:ln>
        </p:spPr>
      </p:sp>
      <p:sp>
        <p:nvSpPr>
          <p:cNvPr id="17" name="Text 15"/>
          <p:cNvSpPr/>
          <p:nvPr/>
        </p:nvSpPr>
        <p:spPr>
          <a:xfrm>
            <a:off x="8166100" y="2044601"/>
            <a:ext cx="311327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Error inesperado</a:t>
            </a:r>
            <a:endParaRPr lang="en-US" sz="1600" dirty="0"/>
          </a:p>
        </p:txBody>
      </p:sp>
      <p:sp>
        <p:nvSpPr>
          <p:cNvPr id="18" name="Text 16"/>
          <p:cNvSpPr/>
          <p:nvPr/>
        </p:nvSpPr>
        <p:spPr>
          <a:xfrm>
            <a:off x="8166100" y="2339181"/>
            <a:ext cx="311327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Algo no previsto, como una caída de MongoDB</a:t>
            </a:r>
            <a:endParaRPr lang="en-US" sz="1300" dirty="0"/>
          </a:p>
        </p:txBody>
      </p:sp>
      <p:sp>
        <p:nvSpPr>
          <p:cNvPr id="19" name="Text 17"/>
          <p:cNvSpPr/>
          <p:nvPr/>
        </p:nvSpPr>
        <p:spPr>
          <a:xfrm>
            <a:off x="8166100" y="2886472"/>
            <a:ext cx="167987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Se marca el trabajo</a:t>
            </a:r>
            <a:endParaRPr lang="en-US" sz="1400" dirty="0"/>
          </a:p>
        </p:txBody>
      </p:sp>
      <p:sp>
        <p:nvSpPr>
          <p:cNvPr id="20" name="Text 18"/>
          <p:cNvSpPr/>
          <p:nvPr/>
        </p:nvSpPr>
        <p:spPr>
          <a:xfrm>
            <a:off x="9852323" y="2897882"/>
            <a:ext cx="636786" cy="226020"/>
          </a:xfrm>
          <a:custGeom>
            <a:avLst/>
            <a:gdLst/>
            <a:ahLst/>
            <a:cxnLst/>
            <a:rect l="l" t="t" r="r" b="b"/>
            <a:pathLst>
              <a:path w="636786" h="226020">
                <a:moveTo>
                  <a:pt x="113010" y="0"/>
                </a:moveTo>
                <a:lnTo>
                  <a:pt x="523776" y="0"/>
                </a:lnTo>
                <a:arcTo hR="113010" wR="113010" stAng="16200000" swAng="5400000"/>
                <a:lnTo>
                  <a:pt x="636786" y="113010"/>
                </a:lnTo>
                <a:arcTo hR="113010" wR="113010" stAng="0" swAng="5400000"/>
                <a:lnTo>
                  <a:pt x="113010" y="226020"/>
                </a:lnTo>
                <a:arcTo hR="113010" wR="113010" stAng="5400000" swAng="5400000"/>
                <a:lnTo>
                  <a:pt x="0" y="113010"/>
                </a:lnTo>
                <a:arcTo hR="113010" wR="113010" stAng="10800000" swAng="5400000"/>
                <a:close/>
              </a:path>
            </a:pathLst>
          </a:custGeom>
          <a:noFill/>
          <a:ln w="12700">
            <a:solidFill>
              <a:srgbClr val="5B6B7B"/>
            </a:solidFill>
            <a:prstDash val="solid"/>
          </a:ln>
        </p:spPr>
        <p:txBody>
          <a:bodyPr wrap="none" lIns="0" tIns="0" rIns="0" bIns="0" rtlCol="0" anchor="ctr">
            <a:normAutofit/>
          </a:bodyPr>
          <a:lstStyle/>
          <a:p>
            <a:pPr algn="ctr" indent="0" marL="0">
              <a:lnSpc>
                <a:spcPts val="1680"/>
              </a:lnSpc>
              <a:buNone/>
            </a:pPr>
            <a:r>
              <a:rPr lang="en-US" sz="1200" b="1" dirty="0">
                <a:solidFill>
                  <a:srgbClr val="44566A"/>
                </a:solidFill>
                <a:latin typeface="IBM Plex Sans" pitchFamily="34" charset="0"/>
                <a:ea typeface="IBM Plex Sans" pitchFamily="34" charset="-122"/>
                <a:cs typeface="IBM Plex Sans" pitchFamily="34" charset="-120"/>
              </a:rPr>
              <a:t>fallido</a:t>
            </a:r>
            <a:endParaRPr lang="en-US" sz="1200" dirty="0"/>
          </a:p>
        </p:txBody>
      </p:sp>
      <p:sp>
        <p:nvSpPr>
          <p:cNvPr id="21" name="Text 19"/>
          <p:cNvSpPr/>
          <p:nvPr/>
        </p:nvSpPr>
        <p:spPr>
          <a:xfrm>
            <a:off x="8166100" y="3186113"/>
            <a:ext cx="3113278"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4566A"/>
                </a:solidFill>
                <a:latin typeface="IBM Plex Sans" pitchFamily="34" charset="0"/>
                <a:ea typeface="IBM Plex Sans" pitchFamily="34" charset="-122"/>
                <a:cs typeface="IBM Plex Sans" pitchFamily="34" charset="-120"/>
              </a:rPr>
              <a:t>Sin reintentos; el servicio sigue</a:t>
            </a:r>
            <a:endParaRPr lang="en-US" sz="1200" dirty="0"/>
          </a:p>
        </p:txBody>
      </p:sp>
      <p:sp>
        <p:nvSpPr>
          <p:cNvPr id="22" name="Shape 20"/>
          <p:cNvSpPr/>
          <p:nvPr/>
        </p:nvSpPr>
        <p:spPr>
          <a:xfrm>
            <a:off x="815975" y="3763268"/>
            <a:ext cx="10560050" cy="1558032"/>
          </a:xfrm>
          <a:prstGeom prst="roundRect">
            <a:avLst>
              <a:gd name="adj" fmla="val 6317"/>
            </a:avLst>
          </a:prstGeom>
          <a:solidFill>
            <a:srgbClr val="FFFFFF"/>
          </a:solidFill>
          <a:ln w="6350">
            <a:solidFill>
              <a:srgbClr val="D5DCE1"/>
            </a:solidFill>
            <a:prstDash val="solid"/>
          </a:ln>
        </p:spPr>
      </p:sp>
      <p:sp>
        <p:nvSpPr>
          <p:cNvPr id="23" name="Text 21"/>
          <p:cNvSpPr/>
          <p:nvPr/>
        </p:nvSpPr>
        <p:spPr>
          <a:xfrm>
            <a:off x="996950" y="3918843"/>
            <a:ext cx="25015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Cómo reintenta SIRFA</a:t>
            </a:r>
            <a:endParaRPr lang="en-US" sz="1600" dirty="0"/>
          </a:p>
        </p:txBody>
      </p:sp>
      <p:sp>
        <p:nvSpPr>
          <p:cNvPr id="24" name="Text 22"/>
          <p:cNvSpPr/>
          <p:nvPr/>
        </p:nvSpPr>
        <p:spPr>
          <a:xfrm>
            <a:off x="5256332" y="3956943"/>
            <a:ext cx="5938718" cy="231080"/>
          </a:xfrm>
          <a:prstGeom prst="rect">
            <a:avLst/>
          </a:prstGeom>
          <a:noFill/>
          <a:ln/>
        </p:spPr>
        <p:txBody>
          <a:bodyPr wrap="square" lIns="0" tIns="0" rIns="0" bIns="0" rtlCol="0" anchor="t">
            <a:normAutofit/>
          </a:bodyPr>
          <a:lstStyle/>
          <a:p>
            <a:pPr algn="r" indent="0" marL="0">
              <a:lnSpc>
                <a:spcPts val="1620"/>
              </a:lnSpc>
              <a:buNone/>
            </a:pPr>
            <a:r>
              <a:rPr lang="en-US" sz="1200" dirty="0">
                <a:solidFill>
                  <a:srgbClr val="44566A"/>
                </a:solidFill>
                <a:latin typeface="IBM Plex Sans" pitchFamily="34" charset="0"/>
                <a:ea typeface="IBM Plex Sans" pitchFamily="34" charset="-122"/>
                <a:cs typeface="IBM Plex Sans" pitchFamily="34" charset="-120"/>
              </a:rPr>
              <a:t>La espera creciente le da tiempo a un problema pasajero para resolverse</a:t>
            </a:r>
            <a:endParaRPr lang="en-US" sz="1200" dirty="0"/>
          </a:p>
        </p:txBody>
      </p:sp>
      <p:sp>
        <p:nvSpPr>
          <p:cNvPr id="25" name="Shape 23"/>
          <p:cNvSpPr/>
          <p:nvPr/>
        </p:nvSpPr>
        <p:spPr>
          <a:xfrm>
            <a:off x="1000125" y="4273748"/>
            <a:ext cx="857250" cy="882452"/>
          </a:xfrm>
          <a:prstGeom prst="roundRect">
            <a:avLst>
              <a:gd name="adj" fmla="val 8519"/>
            </a:avLst>
          </a:prstGeom>
          <a:solidFill>
            <a:srgbClr val="F6F7F4"/>
          </a:solidFill>
          <a:ln w="6350">
            <a:solidFill>
              <a:srgbClr val="D5DCE1"/>
            </a:solidFill>
            <a:prstDash val="solid"/>
          </a:ln>
        </p:spPr>
      </p:sp>
      <p:sp>
        <p:nvSpPr>
          <p:cNvPr id="26" name="Text 24"/>
          <p:cNvSpPr/>
          <p:nvPr/>
        </p:nvSpPr>
        <p:spPr>
          <a:xfrm>
            <a:off x="1117600" y="4353123"/>
            <a:ext cx="6731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Intento 1</a:t>
            </a:r>
            <a:endParaRPr lang="en-US" sz="1400" dirty="0"/>
          </a:p>
        </p:txBody>
      </p:sp>
      <p:sp>
        <p:nvSpPr>
          <p:cNvPr id="27" name="Text 25"/>
          <p:cNvSpPr/>
          <p:nvPr/>
        </p:nvSpPr>
        <p:spPr>
          <a:xfrm>
            <a:off x="1117600" y="4863505"/>
            <a:ext cx="673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B00"/>
                </a:solidFill>
                <a:latin typeface="IBM Plex Sans" pitchFamily="34" charset="0"/>
                <a:ea typeface="IBM Plex Sans" pitchFamily="34" charset="-122"/>
                <a:cs typeface="IBM Plex Sans" pitchFamily="34" charset="-120"/>
              </a:rPr>
              <a:t>falla</a:t>
            </a:r>
            <a:endParaRPr lang="en-US" sz="1200" dirty="0"/>
          </a:p>
        </p:txBody>
      </p:sp>
      <p:sp>
        <p:nvSpPr>
          <p:cNvPr id="28" name="Text 26"/>
          <p:cNvSpPr/>
          <p:nvPr/>
        </p:nvSpPr>
        <p:spPr>
          <a:xfrm>
            <a:off x="1860550" y="4494014"/>
            <a:ext cx="95240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06F"/>
                </a:solidFill>
                <a:latin typeface="IBM Plex Sans" pitchFamily="34" charset="0"/>
                <a:ea typeface="IBM Plex Sans" pitchFamily="34" charset="-122"/>
                <a:cs typeface="IBM Plex Sans" pitchFamily="34" charset="-120"/>
              </a:rPr>
              <a:t>espera 30 s</a:t>
            </a:r>
            <a:endParaRPr lang="en-US" sz="1200" dirty="0"/>
          </a:p>
        </p:txBody>
      </p:sp>
      <p:sp>
        <p:nvSpPr>
          <p:cNvPr id="29" name="Text 27"/>
          <p:cNvSpPr/>
          <p:nvPr/>
        </p:nvSpPr>
        <p:spPr>
          <a:xfrm>
            <a:off x="2197100" y="4707334"/>
            <a:ext cx="27940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17706F"/>
                </a:solidFill>
                <a:latin typeface="IBM Plex Sans" pitchFamily="34" charset="0"/>
                <a:ea typeface="IBM Plex Sans" pitchFamily="34" charset="-122"/>
                <a:cs typeface="IBM Plex Sans" pitchFamily="34" charset="-120"/>
              </a:rPr>
              <a:t>→</a:t>
            </a:r>
            <a:endParaRPr lang="en-US" sz="1800" dirty="0"/>
          </a:p>
        </p:txBody>
      </p:sp>
      <p:sp>
        <p:nvSpPr>
          <p:cNvPr id="30" name="Shape 28"/>
          <p:cNvSpPr/>
          <p:nvPr/>
        </p:nvSpPr>
        <p:spPr>
          <a:xfrm>
            <a:off x="2816225" y="4273748"/>
            <a:ext cx="857250" cy="882452"/>
          </a:xfrm>
          <a:prstGeom prst="roundRect">
            <a:avLst>
              <a:gd name="adj" fmla="val 8519"/>
            </a:avLst>
          </a:prstGeom>
          <a:solidFill>
            <a:srgbClr val="F6F7F4"/>
          </a:solidFill>
          <a:ln w="6350">
            <a:solidFill>
              <a:srgbClr val="D5DCE1"/>
            </a:solidFill>
            <a:prstDash val="solid"/>
          </a:ln>
        </p:spPr>
      </p:sp>
      <p:sp>
        <p:nvSpPr>
          <p:cNvPr id="31" name="Text 29"/>
          <p:cNvSpPr/>
          <p:nvPr/>
        </p:nvSpPr>
        <p:spPr>
          <a:xfrm>
            <a:off x="2933700" y="4353123"/>
            <a:ext cx="6731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Intento 2</a:t>
            </a:r>
            <a:endParaRPr lang="en-US" sz="1400" dirty="0"/>
          </a:p>
        </p:txBody>
      </p:sp>
      <p:sp>
        <p:nvSpPr>
          <p:cNvPr id="32" name="Text 30"/>
          <p:cNvSpPr/>
          <p:nvPr/>
        </p:nvSpPr>
        <p:spPr>
          <a:xfrm>
            <a:off x="2933700" y="4863505"/>
            <a:ext cx="673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B00"/>
                </a:solidFill>
                <a:latin typeface="IBM Plex Sans" pitchFamily="34" charset="0"/>
                <a:ea typeface="IBM Plex Sans" pitchFamily="34" charset="-122"/>
                <a:cs typeface="IBM Plex Sans" pitchFamily="34" charset="-120"/>
              </a:rPr>
              <a:t>falla</a:t>
            </a:r>
            <a:endParaRPr lang="en-US" sz="1200" dirty="0"/>
          </a:p>
        </p:txBody>
      </p:sp>
      <p:sp>
        <p:nvSpPr>
          <p:cNvPr id="33" name="Text 31"/>
          <p:cNvSpPr/>
          <p:nvPr/>
        </p:nvSpPr>
        <p:spPr>
          <a:xfrm>
            <a:off x="3676650" y="4494014"/>
            <a:ext cx="952401"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7706F"/>
                </a:solidFill>
                <a:latin typeface="IBM Plex Sans" pitchFamily="34" charset="0"/>
                <a:ea typeface="IBM Plex Sans" pitchFamily="34" charset="-122"/>
                <a:cs typeface="IBM Plex Sans" pitchFamily="34" charset="-120"/>
              </a:rPr>
              <a:t>espera 60 s</a:t>
            </a:r>
            <a:endParaRPr lang="en-US" sz="1200" dirty="0"/>
          </a:p>
        </p:txBody>
      </p:sp>
      <p:sp>
        <p:nvSpPr>
          <p:cNvPr id="34" name="Text 32"/>
          <p:cNvSpPr/>
          <p:nvPr/>
        </p:nvSpPr>
        <p:spPr>
          <a:xfrm>
            <a:off x="4013200" y="4707334"/>
            <a:ext cx="27940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17706F"/>
                </a:solidFill>
                <a:latin typeface="IBM Plex Sans" pitchFamily="34" charset="0"/>
                <a:ea typeface="IBM Plex Sans" pitchFamily="34" charset="-122"/>
                <a:cs typeface="IBM Plex Sans" pitchFamily="34" charset="-120"/>
              </a:rPr>
              <a:t>→</a:t>
            </a:r>
            <a:endParaRPr lang="en-US" sz="1800" dirty="0"/>
          </a:p>
        </p:txBody>
      </p:sp>
      <p:sp>
        <p:nvSpPr>
          <p:cNvPr id="35" name="Shape 33"/>
          <p:cNvSpPr/>
          <p:nvPr/>
        </p:nvSpPr>
        <p:spPr>
          <a:xfrm>
            <a:off x="4632325" y="4273748"/>
            <a:ext cx="857250" cy="882452"/>
          </a:xfrm>
          <a:prstGeom prst="roundRect">
            <a:avLst>
              <a:gd name="adj" fmla="val 8519"/>
            </a:avLst>
          </a:prstGeom>
          <a:solidFill>
            <a:srgbClr val="F6F7F4"/>
          </a:solidFill>
          <a:ln w="6350">
            <a:solidFill>
              <a:srgbClr val="D5DCE1"/>
            </a:solidFill>
            <a:prstDash val="solid"/>
          </a:ln>
        </p:spPr>
      </p:sp>
      <p:sp>
        <p:nvSpPr>
          <p:cNvPr id="36" name="Text 34"/>
          <p:cNvSpPr/>
          <p:nvPr/>
        </p:nvSpPr>
        <p:spPr>
          <a:xfrm>
            <a:off x="4749800" y="4353123"/>
            <a:ext cx="6731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Intento 3</a:t>
            </a:r>
            <a:endParaRPr lang="en-US" sz="1400" dirty="0"/>
          </a:p>
        </p:txBody>
      </p:sp>
      <p:sp>
        <p:nvSpPr>
          <p:cNvPr id="37" name="Text 35"/>
          <p:cNvSpPr/>
          <p:nvPr/>
        </p:nvSpPr>
        <p:spPr>
          <a:xfrm>
            <a:off x="4749800" y="4863505"/>
            <a:ext cx="673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4B00"/>
                </a:solidFill>
                <a:latin typeface="IBM Plex Sans" pitchFamily="34" charset="0"/>
                <a:ea typeface="IBM Plex Sans" pitchFamily="34" charset="-122"/>
                <a:cs typeface="IBM Plex Sans" pitchFamily="34" charset="-120"/>
              </a:rPr>
              <a:t>falla</a:t>
            </a:r>
            <a:endParaRPr lang="en-US" sz="1200" dirty="0"/>
          </a:p>
        </p:txBody>
      </p:sp>
      <p:sp>
        <p:nvSpPr>
          <p:cNvPr id="38" name="Text 36"/>
          <p:cNvSpPr/>
          <p:nvPr/>
        </p:nvSpPr>
        <p:spPr>
          <a:xfrm>
            <a:off x="5575300" y="4600674"/>
            <a:ext cx="27940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17706F"/>
                </a:solidFill>
                <a:latin typeface="IBM Plex Sans" pitchFamily="34" charset="0"/>
                <a:ea typeface="IBM Plex Sans" pitchFamily="34" charset="-122"/>
                <a:cs typeface="IBM Plex Sans" pitchFamily="34" charset="-120"/>
              </a:rPr>
              <a:t>→</a:t>
            </a:r>
            <a:endParaRPr lang="en-US" sz="1800" dirty="0"/>
          </a:p>
        </p:txBody>
      </p:sp>
      <p:sp>
        <p:nvSpPr>
          <p:cNvPr id="39" name="Shape 37"/>
          <p:cNvSpPr/>
          <p:nvPr/>
        </p:nvSpPr>
        <p:spPr>
          <a:xfrm>
            <a:off x="5943600" y="4270573"/>
            <a:ext cx="1485900" cy="888802"/>
          </a:xfrm>
          <a:prstGeom prst="roundRect">
            <a:avLst>
              <a:gd name="adj" fmla="val 7859"/>
            </a:avLst>
          </a:prstGeom>
          <a:solidFill>
            <a:srgbClr val="FFF6E5"/>
          </a:solidFill>
          <a:ln w="12700">
            <a:solidFill>
              <a:srgbClr val="E8A64B"/>
            </a:solidFill>
            <a:prstDash val="solid"/>
          </a:ln>
        </p:spPr>
      </p:sp>
      <p:sp>
        <p:nvSpPr>
          <p:cNvPr id="40" name="Text 38"/>
          <p:cNvSpPr/>
          <p:nvPr/>
        </p:nvSpPr>
        <p:spPr>
          <a:xfrm>
            <a:off x="6064250" y="4353123"/>
            <a:ext cx="1295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2263A"/>
                </a:solidFill>
                <a:latin typeface="IBM Plex Sans" pitchFamily="34" charset="0"/>
                <a:ea typeface="IBM Plex Sans" pitchFamily="34" charset="-122"/>
                <a:cs typeface="IBM Plex Sans" pitchFamily="34" charset="-120"/>
              </a:rPr>
              <a:t>Solicitud en error</a:t>
            </a:r>
            <a:endParaRPr lang="en-US" sz="1400" dirty="0"/>
          </a:p>
        </p:txBody>
      </p:sp>
      <p:sp>
        <p:nvSpPr>
          <p:cNvPr id="41" name="Text 39"/>
          <p:cNvSpPr/>
          <p:nvPr/>
        </p:nvSpPr>
        <p:spPr>
          <a:xfrm>
            <a:off x="6064250" y="4863505"/>
            <a:ext cx="1295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66A"/>
                </a:solidFill>
                <a:latin typeface="IBM Plex Sans" pitchFamily="34" charset="0"/>
                <a:ea typeface="IBM Plex Sans" pitchFamily="34" charset="-122"/>
                <a:cs typeface="IBM Plex Sans" pitchFamily="34" charset="-120"/>
              </a:rPr>
              <a:t>motivo registrado</a:t>
            </a:r>
            <a:endParaRPr lang="en-US" sz="1200" dirty="0"/>
          </a:p>
        </p:txBody>
      </p:sp>
      <p:sp>
        <p:nvSpPr>
          <p:cNvPr id="42" name="Text 40"/>
          <p:cNvSpPr/>
          <p:nvPr/>
        </p:nvSpPr>
        <p:spPr>
          <a:xfrm>
            <a:off x="7518400" y="4600674"/>
            <a:ext cx="279400" cy="254000"/>
          </a:xfrm>
          <a:prstGeom prst="rect">
            <a:avLst/>
          </a:prstGeom>
          <a:noFill/>
          <a:ln/>
        </p:spPr>
        <p:txBody>
          <a:bodyPr wrap="square" lIns="0" tIns="0" rIns="0" bIns="0" rtlCol="0" anchor="t">
            <a:normAutofit/>
          </a:bodyPr>
          <a:lstStyle/>
          <a:p>
            <a:pPr algn="ctr" indent="0" marL="0">
              <a:lnSpc>
                <a:spcPts val="1800"/>
              </a:lnSpc>
              <a:buNone/>
            </a:pPr>
            <a:r>
              <a:rPr lang="en-US" sz="1800" dirty="0">
                <a:solidFill>
                  <a:srgbClr val="17706F"/>
                </a:solidFill>
                <a:latin typeface="IBM Plex Sans" pitchFamily="34" charset="0"/>
                <a:ea typeface="IBM Plex Sans" pitchFamily="34" charset="-122"/>
                <a:cs typeface="IBM Plex Sans" pitchFamily="34" charset="-120"/>
              </a:rPr>
              <a:t>→</a:t>
            </a:r>
            <a:endParaRPr lang="en-US" sz="1800" dirty="0"/>
          </a:p>
        </p:txBody>
      </p:sp>
      <p:sp>
        <p:nvSpPr>
          <p:cNvPr id="43" name="Shape 41"/>
          <p:cNvSpPr/>
          <p:nvPr/>
        </p:nvSpPr>
        <p:spPr>
          <a:xfrm>
            <a:off x="7880350" y="4401344"/>
            <a:ext cx="3314700" cy="627261"/>
          </a:xfrm>
          <a:prstGeom prst="roundRect">
            <a:avLst>
              <a:gd name="adj" fmla="val 12148"/>
            </a:avLst>
          </a:prstGeom>
          <a:solidFill>
            <a:srgbClr val="17706F"/>
          </a:solidFill>
          <a:ln/>
        </p:spPr>
      </p:sp>
      <p:sp>
        <p:nvSpPr>
          <p:cNvPr id="44" name="Text 42"/>
          <p:cNvSpPr/>
          <p:nvPr/>
        </p:nvSpPr>
        <p:spPr>
          <a:xfrm>
            <a:off x="7994650" y="4477544"/>
            <a:ext cx="31786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FFF"/>
                </a:solidFill>
                <a:latin typeface="IBM Plex Sans" pitchFamily="34" charset="0"/>
                <a:ea typeface="IBM Plex Sans" pitchFamily="34" charset="-122"/>
                <a:cs typeface="IBM Plex Sans" pitchFamily="34" charset="-120"/>
              </a:rPr>
              <a:t>Reintentar</a:t>
            </a:r>
            <a:endParaRPr lang="en-US" sz="1400" dirty="0"/>
          </a:p>
        </p:txBody>
      </p:sp>
      <p:sp>
        <p:nvSpPr>
          <p:cNvPr id="45" name="Text 43"/>
          <p:cNvSpPr/>
          <p:nvPr/>
        </p:nvSpPr>
        <p:spPr>
          <a:xfrm>
            <a:off x="7994650" y="4739084"/>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F1F0"/>
                </a:solidFill>
                <a:latin typeface="IBM Plex Sans" pitchFamily="34" charset="0"/>
                <a:ea typeface="IBM Plex Sans" pitchFamily="34" charset="-122"/>
                <a:cs typeface="IBM Plex Sans" pitchFamily="34" charset="-120"/>
              </a:rPr>
              <a:t>se puede volver a probar</a:t>
            </a:r>
            <a:endParaRPr lang="en-US" sz="1200" dirty="0"/>
          </a:p>
        </p:txBody>
      </p:sp>
      <p:sp>
        <p:nvSpPr>
          <p:cNvPr id="46" name="Text 44"/>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47" name="Text 4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13 / 21</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MODELO DE DATOS Y UML</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Dos bases de datos, cada una donde rinde mejor</a:t>
            </a:r>
            <a:endParaRPr lang="en-US" sz="3200" dirty="0"/>
          </a:p>
        </p:txBody>
      </p:sp>
      <p:pic>
        <p:nvPicPr>
          <p:cNvPr id="4" name="Image 0" descr="Diagrama entidad-relación de las 12 tablas migradas: centro, usuario, aislado, genoma, solicitud con su historial, trabajo y análisis genómico, y el banco de fagos con fuente de datos, origen e interacción conocida">    </p:cNvPr>
          <p:cNvPicPr>
            <a:picLocks noChangeAspect="1"/>
          </p:cNvPicPr>
          <p:nvPr/>
        </p:nvPicPr>
        <p:blipFill>
          <a:blip r:embed="rId1"/>
          <a:srcRect l="0" r="0" t="0" b="0"/>
          <a:stretch/>
        </p:blipFill>
        <p:spPr>
          <a:xfrm>
            <a:off x="812800" y="1981101"/>
            <a:ext cx="6350000" cy="3556000"/>
          </a:xfrm>
          <a:prstGeom prst="rect">
            <a:avLst/>
          </a:prstGeom>
        </p:spPr>
      </p:pic>
      <p:sp>
        <p:nvSpPr>
          <p:cNvPr id="5" name="Shape 2"/>
          <p:cNvSpPr/>
          <p:nvPr/>
        </p:nvSpPr>
        <p:spPr>
          <a:xfrm>
            <a:off x="7369175" y="1984276"/>
            <a:ext cx="4006850" cy="1846957"/>
          </a:xfrm>
          <a:prstGeom prst="roundRect">
            <a:avLst>
              <a:gd name="adj" fmla="val 5329"/>
            </a:avLst>
          </a:prstGeom>
          <a:solidFill>
            <a:srgbClr val="FFFFFF"/>
          </a:solidFill>
          <a:ln w="6350">
            <a:solidFill>
              <a:srgbClr val="D5DCE1"/>
            </a:solidFill>
            <a:prstDash val="solid"/>
          </a:ln>
        </p:spPr>
      </p:sp>
      <p:sp>
        <p:nvSpPr>
          <p:cNvPr id="6" name="Text 3"/>
          <p:cNvSpPr/>
          <p:nvPr/>
        </p:nvSpPr>
        <p:spPr>
          <a:xfrm>
            <a:off x="7575550" y="2190651"/>
            <a:ext cx="370192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En números</a:t>
            </a:r>
            <a:endParaRPr lang="en-US" sz="1600" dirty="0"/>
          </a:p>
        </p:txBody>
      </p:sp>
      <p:sp>
        <p:nvSpPr>
          <p:cNvPr id="7" name="Text 4"/>
          <p:cNvSpPr/>
          <p:nvPr/>
        </p:nvSpPr>
        <p:spPr>
          <a:xfrm>
            <a:off x="7660894" y="2510631"/>
            <a:ext cx="3608959" cy="1139627"/>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dirty="0">
                <a:solidFill>
                  <a:srgbClr val="12263A"/>
                </a:solidFill>
                <a:latin typeface="IBM Plex Sans" pitchFamily="34" charset="0"/>
                <a:ea typeface="IBM Plex Sans" pitchFamily="34" charset="-122"/>
                <a:cs typeface="IBM Plex Sans" pitchFamily="34" charset="-120"/>
              </a:rPr>
              <a:t>24 tablas diseñadas, 12 migradas con Alembic</a:t>
            </a:r>
            <a:endParaRPr lang="en-US" sz="1300" dirty="0"/>
          </a:p>
          <a:p>
            <a:pPr algn="l" marL="168656" indent="-168656">
              <a:lnSpc>
                <a:spcPts val="1755"/>
              </a:lnSpc>
              <a:buSzPct val="100000"/>
              <a:buChar char="•"/>
            </a:pPr>
            <a:r>
              <a:rPr lang="en-US" sz="1300" dirty="0">
                <a:solidFill>
                  <a:srgbClr val="12263A"/>
                </a:solidFill>
                <a:latin typeface="IBM Plex Sans" pitchFamily="34" charset="0"/>
                <a:ea typeface="IBM Plex Sans" pitchFamily="34" charset="-122"/>
                <a:cs typeface="IBM Plex Sans" pitchFamily="34" charset="-120"/>
              </a:rPr>
              <a:t>4 colecciones en MongoDB, 1 implementada</a:t>
            </a:r>
            <a:endParaRPr lang="en-US" sz="1300" dirty="0"/>
          </a:p>
          <a:p>
            <a:pPr algn="l" marL="168656" indent="-168656">
              <a:lnSpc>
                <a:spcPts val="1755"/>
              </a:lnSpc>
              <a:buSzPct val="100000"/>
              <a:buChar char="•"/>
            </a:pPr>
            <a:r>
              <a:rPr lang="en-US" sz="1300" dirty="0">
                <a:solidFill>
                  <a:srgbClr val="12263A"/>
                </a:solidFill>
                <a:latin typeface="IBM Plex Sans" pitchFamily="34" charset="0"/>
                <a:ea typeface="IBM Plex Sans" pitchFamily="34" charset="-122"/>
                <a:cs typeface="IBM Plex Sans" pitchFamily="34" charset="-120"/>
              </a:rPr>
              <a:t>4 diagramas UML en el Documento de Diseño</a:t>
            </a:r>
            <a:endParaRPr lang="en-US" sz="1300" dirty="0"/>
          </a:p>
        </p:txBody>
      </p:sp>
      <p:sp>
        <p:nvSpPr>
          <p:cNvPr id="8" name="Shape 5"/>
          <p:cNvSpPr/>
          <p:nvPr/>
        </p:nvSpPr>
        <p:spPr>
          <a:xfrm>
            <a:off x="7372350" y="3993158"/>
            <a:ext cx="4000500" cy="1407616"/>
          </a:xfrm>
          <a:prstGeom prst="roundRect">
            <a:avLst>
              <a:gd name="adj" fmla="val 6767"/>
            </a:avLst>
          </a:prstGeom>
          <a:solidFill>
            <a:srgbClr val="FFF6E5"/>
          </a:solidFill>
          <a:ln w="12700">
            <a:solidFill>
              <a:srgbClr val="E8A64B"/>
            </a:solidFill>
            <a:prstDash val="solid"/>
          </a:ln>
        </p:spPr>
      </p:sp>
      <p:sp>
        <p:nvSpPr>
          <p:cNvPr id="9" name="Text 6"/>
          <p:cNvSpPr/>
          <p:nvPr/>
        </p:nvSpPr>
        <p:spPr>
          <a:xfrm>
            <a:off x="7581900" y="4202708"/>
            <a:ext cx="36888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7A4B00"/>
                </a:solidFill>
                <a:latin typeface="IBM Plex Sans" pitchFamily="34" charset="0"/>
                <a:ea typeface="IBM Plex Sans" pitchFamily="34" charset="-122"/>
                <a:cs typeface="IBM Plex Sans" pitchFamily="34" charset="-120"/>
              </a:rPr>
              <a:t>Compromiso conocido</a:t>
            </a:r>
            <a:endParaRPr lang="en-US" sz="1600" dirty="0"/>
          </a:p>
        </p:txBody>
      </p:sp>
      <p:sp>
        <p:nvSpPr>
          <p:cNvPr id="10" name="Text 7"/>
          <p:cNvSpPr/>
          <p:nvPr/>
        </p:nvSpPr>
        <p:spPr>
          <a:xfrm>
            <a:off x="7581900" y="4522688"/>
            <a:ext cx="3688842"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Sin transacción distribuida: puede quedar un documento huérfano en MongoDB. La reconciliación está diseñada, no construida.</a:t>
            </a:r>
            <a:endParaRPr lang="en-US" sz="1300" dirty="0"/>
          </a:p>
        </p:txBody>
      </p:sp>
      <p:sp>
        <p:nvSpPr>
          <p:cNvPr id="11" name="Text 8"/>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14 / 21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MODELO DE NEGOCIO · COSTOS Y SOSTENIBILIDAD</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Cuánto cuesta construirlo, mantenerlo y financiarlo</a:t>
            </a:r>
            <a:endParaRPr lang="en-US" sz="3200" dirty="0"/>
          </a:p>
        </p:txBody>
      </p:sp>
      <p:sp>
        <p:nvSpPr>
          <p:cNvPr id="4" name="Shape 2"/>
          <p:cNvSpPr/>
          <p:nvPr/>
        </p:nvSpPr>
        <p:spPr>
          <a:xfrm>
            <a:off x="815975" y="1882676"/>
            <a:ext cx="2559050" cy="1137841"/>
          </a:xfrm>
          <a:prstGeom prst="roundRect">
            <a:avLst>
              <a:gd name="adj" fmla="val 8650"/>
            </a:avLst>
          </a:prstGeom>
          <a:solidFill>
            <a:srgbClr val="FFFFFF"/>
          </a:solidFill>
          <a:ln w="6350">
            <a:solidFill>
              <a:srgbClr val="D5DCE1"/>
            </a:solidFill>
            <a:prstDash val="solid"/>
          </a:ln>
        </p:spPr>
      </p:sp>
      <p:sp>
        <p:nvSpPr>
          <p:cNvPr id="5" name="Text 3"/>
          <p:cNvSpPr/>
          <p:nvPr/>
        </p:nvSpPr>
        <p:spPr>
          <a:xfrm>
            <a:off x="971550" y="2038251"/>
            <a:ext cx="2315337"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$12–18 M</a:t>
            </a:r>
            <a:endParaRPr lang="en-US" sz="2600" dirty="0"/>
          </a:p>
        </p:txBody>
      </p:sp>
      <p:sp>
        <p:nvSpPr>
          <p:cNvPr id="6" name="Text 4"/>
          <p:cNvSpPr/>
          <p:nvPr/>
        </p:nvSpPr>
        <p:spPr>
          <a:xfrm>
            <a:off x="971550" y="2419251"/>
            <a:ext cx="23153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CLP: desarrollo del MVP a precio de mercado</a:t>
            </a:r>
            <a:endParaRPr lang="en-US" sz="1300" dirty="0"/>
          </a:p>
        </p:txBody>
      </p:sp>
      <p:sp>
        <p:nvSpPr>
          <p:cNvPr id="7" name="Shape 5"/>
          <p:cNvSpPr/>
          <p:nvPr/>
        </p:nvSpPr>
        <p:spPr>
          <a:xfrm>
            <a:off x="3482975" y="1882676"/>
            <a:ext cx="2559050" cy="1137841"/>
          </a:xfrm>
          <a:prstGeom prst="roundRect">
            <a:avLst>
              <a:gd name="adj" fmla="val 8650"/>
            </a:avLst>
          </a:prstGeom>
          <a:solidFill>
            <a:srgbClr val="FFFFFF"/>
          </a:solidFill>
          <a:ln w="6350">
            <a:solidFill>
              <a:srgbClr val="D5DCE1"/>
            </a:solidFill>
            <a:prstDash val="solid"/>
          </a:ln>
        </p:spPr>
      </p:sp>
      <p:sp>
        <p:nvSpPr>
          <p:cNvPr id="8" name="Text 6"/>
          <p:cNvSpPr/>
          <p:nvPr/>
        </p:nvSpPr>
        <p:spPr>
          <a:xfrm>
            <a:off x="3638550" y="2038251"/>
            <a:ext cx="2315337"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$7,5–12 M</a:t>
            </a:r>
            <a:endParaRPr lang="en-US" sz="2600" dirty="0"/>
          </a:p>
        </p:txBody>
      </p:sp>
      <p:sp>
        <p:nvSpPr>
          <p:cNvPr id="9" name="Text 7"/>
          <p:cNvSpPr/>
          <p:nvPr/>
        </p:nvSpPr>
        <p:spPr>
          <a:xfrm>
            <a:off x="3638550" y="2419251"/>
            <a:ext cx="23153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CLP: valor del trabajo del proyecto de título</a:t>
            </a:r>
            <a:endParaRPr lang="en-US" sz="1300" dirty="0"/>
          </a:p>
        </p:txBody>
      </p:sp>
      <p:sp>
        <p:nvSpPr>
          <p:cNvPr id="10" name="Shape 8"/>
          <p:cNvSpPr/>
          <p:nvPr/>
        </p:nvSpPr>
        <p:spPr>
          <a:xfrm>
            <a:off x="6149975" y="1882676"/>
            <a:ext cx="2559050" cy="1137841"/>
          </a:xfrm>
          <a:prstGeom prst="roundRect">
            <a:avLst>
              <a:gd name="adj" fmla="val 8650"/>
            </a:avLst>
          </a:prstGeom>
          <a:solidFill>
            <a:srgbClr val="FFFFFF"/>
          </a:solidFill>
          <a:ln w="6350">
            <a:solidFill>
              <a:srgbClr val="D5DCE1"/>
            </a:solidFill>
            <a:prstDash val="solid"/>
          </a:ln>
        </p:spPr>
      </p:sp>
      <p:sp>
        <p:nvSpPr>
          <p:cNvPr id="11" name="Text 9"/>
          <p:cNvSpPr/>
          <p:nvPr/>
        </p:nvSpPr>
        <p:spPr>
          <a:xfrm>
            <a:off x="6305550" y="2038251"/>
            <a:ext cx="2315337"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$2,5–4 M</a:t>
            </a:r>
            <a:endParaRPr lang="en-US" sz="2600" dirty="0"/>
          </a:p>
        </p:txBody>
      </p:sp>
      <p:sp>
        <p:nvSpPr>
          <p:cNvPr id="12" name="Text 10"/>
          <p:cNvSpPr/>
          <p:nvPr/>
        </p:nvSpPr>
        <p:spPr>
          <a:xfrm>
            <a:off x="6305550" y="2419251"/>
            <a:ext cx="23153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CLP al mes: mantención con 2 profesionales a tiempo parcial</a:t>
            </a:r>
            <a:endParaRPr lang="en-US" sz="1300" dirty="0"/>
          </a:p>
        </p:txBody>
      </p:sp>
      <p:sp>
        <p:nvSpPr>
          <p:cNvPr id="13" name="Shape 11"/>
          <p:cNvSpPr/>
          <p:nvPr/>
        </p:nvSpPr>
        <p:spPr>
          <a:xfrm>
            <a:off x="8816975" y="1882676"/>
            <a:ext cx="2559050" cy="1137841"/>
          </a:xfrm>
          <a:prstGeom prst="roundRect">
            <a:avLst>
              <a:gd name="adj" fmla="val 8650"/>
            </a:avLst>
          </a:prstGeom>
          <a:solidFill>
            <a:srgbClr val="FFFFFF"/>
          </a:solidFill>
          <a:ln w="6350">
            <a:solidFill>
              <a:srgbClr val="D5DCE1"/>
            </a:solidFill>
            <a:prstDash val="solid"/>
          </a:ln>
        </p:spPr>
      </p:sp>
      <p:sp>
        <p:nvSpPr>
          <p:cNvPr id="14" name="Text 12"/>
          <p:cNvSpPr/>
          <p:nvPr/>
        </p:nvSpPr>
        <p:spPr>
          <a:xfrm>
            <a:off x="8972550" y="2038251"/>
            <a:ext cx="2315337" cy="355600"/>
          </a:xfrm>
          <a:prstGeom prst="rect">
            <a:avLst/>
          </a:prstGeom>
          <a:noFill/>
          <a:ln/>
        </p:spPr>
        <p:txBody>
          <a:bodyPr wrap="square" lIns="0" tIns="0" rIns="0" bIns="0" rtlCol="0" anchor="t">
            <a:normAutofit/>
          </a:bodyPr>
          <a:lstStyle/>
          <a:p>
            <a:pPr algn="l" indent="0" marL="0">
              <a:lnSpc>
                <a:spcPts val="2600"/>
              </a:lnSpc>
              <a:buNone/>
            </a:pPr>
            <a:r>
              <a:rPr lang="en-US" sz="2600" dirty="0">
                <a:solidFill>
                  <a:srgbClr val="17706F"/>
                </a:solidFill>
                <a:latin typeface="EB Garamond" pitchFamily="18" charset="0"/>
                <a:ea typeface="EB Garamond" pitchFamily="18" charset="-122"/>
                <a:cs typeface="EB Garamond" pitchFamily="18" charset="-120"/>
              </a:rPr>
              <a:t>$4–8 M</a:t>
            </a:r>
            <a:endParaRPr lang="en-US" sz="2600" dirty="0"/>
          </a:p>
        </p:txBody>
      </p:sp>
      <p:sp>
        <p:nvSpPr>
          <p:cNvPr id="15" name="Text 13"/>
          <p:cNvSpPr/>
          <p:nvPr/>
        </p:nvSpPr>
        <p:spPr>
          <a:xfrm>
            <a:off x="8972550" y="2419251"/>
            <a:ext cx="2315337"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263A"/>
                </a:solidFill>
                <a:latin typeface="IBM Plex Sans" pitchFamily="34" charset="0"/>
                <a:ea typeface="IBM Plex Sans" pitchFamily="34" charset="-122"/>
                <a:cs typeface="IBM Plex Sans" pitchFamily="34" charset="-120"/>
              </a:rPr>
              <a:t>CLP: puesta en marcha con hospitales reales</a:t>
            </a:r>
            <a:endParaRPr lang="en-US" sz="1300" dirty="0"/>
          </a:p>
        </p:txBody>
      </p:sp>
      <p:sp>
        <p:nvSpPr>
          <p:cNvPr id="16" name="Shape 14"/>
          <p:cNvSpPr/>
          <p:nvPr/>
        </p:nvSpPr>
        <p:spPr>
          <a:xfrm>
            <a:off x="815975" y="3230066"/>
            <a:ext cx="5194300" cy="1452761"/>
          </a:xfrm>
          <a:prstGeom prst="roundRect">
            <a:avLst>
              <a:gd name="adj" fmla="val 6775"/>
            </a:avLst>
          </a:prstGeom>
          <a:solidFill>
            <a:srgbClr val="FFFFFF"/>
          </a:solidFill>
          <a:ln w="6350">
            <a:solidFill>
              <a:srgbClr val="D5DCE1"/>
            </a:solidFill>
            <a:prstDash val="solid"/>
          </a:ln>
        </p:spPr>
      </p:sp>
      <p:sp>
        <p:nvSpPr>
          <p:cNvPr id="17" name="Text 15"/>
          <p:cNvSpPr/>
          <p:nvPr/>
        </p:nvSpPr>
        <p:spPr>
          <a:xfrm>
            <a:off x="1022350" y="3436441"/>
            <a:ext cx="49249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Equipo mínimo de operación</a:t>
            </a:r>
            <a:endParaRPr lang="en-US" sz="1600" dirty="0"/>
          </a:p>
        </p:txBody>
      </p:sp>
      <p:sp>
        <p:nvSpPr>
          <p:cNvPr id="18" name="Text 16"/>
          <p:cNvSpPr/>
          <p:nvPr/>
        </p:nvSpPr>
        <p:spPr>
          <a:xfrm>
            <a:off x="1022350" y="3756422"/>
            <a:ext cx="4924997"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Un ingeniero backend y de ML, que mantiene y reentrena el modelo, y un tecnólogo médico o microbiólogo curador, que valida y cura el banco de fagos.</a:t>
            </a:r>
            <a:endParaRPr lang="en-US" sz="1400" dirty="0"/>
          </a:p>
        </p:txBody>
      </p:sp>
      <p:sp>
        <p:nvSpPr>
          <p:cNvPr id="19" name="Shape 17"/>
          <p:cNvSpPr/>
          <p:nvPr/>
        </p:nvSpPr>
        <p:spPr>
          <a:xfrm>
            <a:off x="6172200" y="3233241"/>
            <a:ext cx="5200650" cy="1446411"/>
          </a:xfrm>
          <a:prstGeom prst="roundRect">
            <a:avLst>
              <a:gd name="adj" fmla="val 6585"/>
            </a:avLst>
          </a:prstGeom>
          <a:solidFill>
            <a:srgbClr val="E4F1F0"/>
          </a:solidFill>
          <a:ln w="12700">
            <a:solidFill>
              <a:srgbClr val="17706F"/>
            </a:solidFill>
            <a:prstDash val="solid"/>
          </a:ln>
        </p:spPr>
      </p:sp>
      <p:sp>
        <p:nvSpPr>
          <p:cNvPr id="20" name="Text 18"/>
          <p:cNvSpPr/>
          <p:nvPr/>
        </p:nvSpPr>
        <p:spPr>
          <a:xfrm>
            <a:off x="6381750" y="3442791"/>
            <a:ext cx="49249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5251"/>
                </a:solidFill>
                <a:latin typeface="IBM Plex Sans" pitchFamily="34" charset="0"/>
                <a:ea typeface="IBM Plex Sans" pitchFamily="34" charset="-122"/>
                <a:cs typeface="IBM Plex Sans" pitchFamily="34" charset="-120"/>
              </a:rPr>
              <a:t>Financiamiento posible: FONIS</a:t>
            </a:r>
            <a:endParaRPr lang="en-US" sz="1600" dirty="0"/>
          </a:p>
        </p:txBody>
      </p:sp>
      <p:sp>
        <p:nvSpPr>
          <p:cNvPr id="21" name="Text 19"/>
          <p:cNvSpPr/>
          <p:nvPr/>
        </p:nvSpPr>
        <p:spPr>
          <a:xfrm>
            <a:off x="6381750" y="3762772"/>
            <a:ext cx="4924997"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Fondo de ANID y MINSAL para salud con componente digital: hasta $70–72 M CLP y 24 meses por proyecto.</a:t>
            </a:r>
            <a:endParaRPr lang="en-US" sz="1400" dirty="0"/>
          </a:p>
        </p:txBody>
      </p:sp>
      <p:sp>
        <p:nvSpPr>
          <p:cNvPr id="22" name="Text 20"/>
          <p:cNvSpPr/>
          <p:nvPr/>
        </p:nvSpPr>
        <p:spPr>
          <a:xfrm>
            <a:off x="812800" y="4889202"/>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66A"/>
                </a:solidFill>
                <a:latin typeface="IBM Plex Sans" pitchFamily="34" charset="0"/>
                <a:ea typeface="IBM Plex Sans" pitchFamily="34" charset="-122"/>
                <a:cs typeface="IBM Plex Sans" pitchFamily="34" charset="-120"/>
              </a:rPr>
              <a:t>Hoy no hay costo de licencias ni de datos: el stack es de código abierto y los datos son públicos. Las cifras son estimaciones de la Fase 1 con precios de mercado, no cotizaciones.</a:t>
            </a:r>
            <a:endParaRPr lang="en-US" sz="1200" dirty="0"/>
          </a:p>
        </p:txBody>
      </p:sp>
      <p:sp>
        <p:nvSpPr>
          <p:cNvPr id="23" name="Text 21"/>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15 / 21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DEMOSTRACIÓN DEL RESULTADO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F6F7F4"/>
                </a:solidFill>
                <a:latin typeface="EB Garamond" pitchFamily="18" charset="0"/>
                <a:ea typeface="EB Garamond" pitchFamily="18" charset="-122"/>
                <a:cs typeface="EB Garamond" pitchFamily="18" charset="-120"/>
              </a:rPr>
              <a:t>El flujo asíncrono, de la carga del archivo al resultado</a:t>
            </a:r>
            <a:endParaRPr lang="en-US" sz="3200" dirty="0"/>
          </a:p>
        </p:txBody>
      </p:sp>
      <p:sp>
        <p:nvSpPr>
          <p:cNvPr id="4" name="Shape 2"/>
          <p:cNvSpPr/>
          <p:nvPr/>
        </p:nvSpPr>
        <p:spPr>
          <a:xfrm>
            <a:off x="815975" y="1984276"/>
            <a:ext cx="2023070" cy="1957586"/>
          </a:xfrm>
          <a:prstGeom prst="roundRect">
            <a:avLst>
              <a:gd name="adj" fmla="val 5028"/>
            </a:avLst>
          </a:prstGeom>
          <a:solidFill>
            <a:srgbClr val="1B3550"/>
          </a:solidFill>
          <a:ln w="6350">
            <a:solidFill>
              <a:srgbClr val="2E4A66"/>
            </a:solidFill>
            <a:prstDash val="solid"/>
          </a:ln>
        </p:spPr>
      </p:sp>
      <p:sp>
        <p:nvSpPr>
          <p:cNvPr id="5" name="Text 3"/>
          <p:cNvSpPr/>
          <p:nvPr/>
        </p:nvSpPr>
        <p:spPr>
          <a:xfrm>
            <a:off x="971550" y="2139851"/>
            <a:ext cx="1763278"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5CC8C4"/>
                </a:solidFill>
                <a:latin typeface="EB Garamond" pitchFamily="18" charset="0"/>
                <a:ea typeface="EB Garamond" pitchFamily="18" charset="-122"/>
                <a:cs typeface="EB Garamond" pitchFamily="18" charset="-120"/>
              </a:rPr>
              <a:t>1</a:t>
            </a:r>
            <a:endParaRPr lang="en-US" sz="2800" dirty="0"/>
          </a:p>
        </p:txBody>
      </p:sp>
      <p:sp>
        <p:nvSpPr>
          <p:cNvPr id="6" name="Text 4"/>
          <p:cNvSpPr/>
          <p:nvPr/>
        </p:nvSpPr>
        <p:spPr>
          <a:xfrm>
            <a:off x="971550" y="2571651"/>
            <a:ext cx="176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Subir el genoma</a:t>
            </a:r>
            <a:endParaRPr lang="en-US" sz="1500" dirty="0"/>
          </a:p>
        </p:txBody>
      </p:sp>
      <p:sp>
        <p:nvSpPr>
          <p:cNvPr id="7" name="Text 5"/>
          <p:cNvSpPr/>
          <p:nvPr/>
        </p:nvSpPr>
        <p:spPr>
          <a:xfrm>
            <a:off x="971550" y="2876451"/>
            <a:ext cx="17632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3DCE4"/>
                </a:solidFill>
                <a:latin typeface="IBM Plex Sans" pitchFamily="34" charset="0"/>
                <a:ea typeface="IBM Plex Sans" pitchFamily="34" charset="-122"/>
                <a:cs typeface="IBM Plex Sans" pitchFamily="34" charset="-120"/>
              </a:rPr>
              <a:t>La API valida, guarda y encola, y responde de inmediato</a:t>
            </a:r>
            <a:endParaRPr lang="en-US" sz="1300" dirty="0"/>
          </a:p>
        </p:txBody>
      </p:sp>
      <p:sp>
        <p:nvSpPr>
          <p:cNvPr id="8" name="Shape 6"/>
          <p:cNvSpPr/>
          <p:nvPr/>
        </p:nvSpPr>
        <p:spPr>
          <a:xfrm>
            <a:off x="2946995" y="1984276"/>
            <a:ext cx="2023170" cy="1957586"/>
          </a:xfrm>
          <a:prstGeom prst="roundRect">
            <a:avLst>
              <a:gd name="adj" fmla="val 5028"/>
            </a:avLst>
          </a:prstGeom>
          <a:solidFill>
            <a:srgbClr val="1B3550"/>
          </a:solidFill>
          <a:ln w="6350">
            <a:solidFill>
              <a:srgbClr val="2E4A66"/>
            </a:solidFill>
            <a:prstDash val="solid"/>
          </a:ln>
        </p:spPr>
      </p:sp>
      <p:sp>
        <p:nvSpPr>
          <p:cNvPr id="9" name="Text 7"/>
          <p:cNvSpPr/>
          <p:nvPr/>
        </p:nvSpPr>
        <p:spPr>
          <a:xfrm>
            <a:off x="3102570" y="2139851"/>
            <a:ext cx="176338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5CC8C4"/>
                </a:solidFill>
                <a:latin typeface="EB Garamond" pitchFamily="18" charset="0"/>
                <a:ea typeface="EB Garamond" pitchFamily="18" charset="-122"/>
                <a:cs typeface="EB Garamond" pitchFamily="18" charset="-120"/>
              </a:rPr>
              <a:t>2</a:t>
            </a:r>
            <a:endParaRPr lang="en-US" sz="2800" dirty="0"/>
          </a:p>
        </p:txBody>
      </p:sp>
      <p:sp>
        <p:nvSpPr>
          <p:cNvPr id="10" name="Text 8"/>
          <p:cNvSpPr/>
          <p:nvPr/>
        </p:nvSpPr>
        <p:spPr>
          <a:xfrm>
            <a:off x="3102570" y="2571651"/>
            <a:ext cx="17633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Un worker lo toma</a:t>
            </a:r>
            <a:endParaRPr lang="en-US" sz="1500" dirty="0"/>
          </a:p>
        </p:txBody>
      </p:sp>
      <p:sp>
        <p:nvSpPr>
          <p:cNvPr id="11" name="Text 9"/>
          <p:cNvSpPr/>
          <p:nvPr/>
        </p:nvSpPr>
        <p:spPr>
          <a:xfrm>
            <a:off x="3102570" y="2876451"/>
            <a:ext cx="176338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3DCE4"/>
                </a:solidFill>
                <a:latin typeface="IBM Plex Sans" pitchFamily="34" charset="0"/>
                <a:ea typeface="IBM Plex Sans" pitchFamily="34" charset="-122"/>
                <a:cs typeface="IBM Plex Sans" pitchFamily="34" charset="-120"/>
              </a:rPr>
              <a:t>Otro proceso ejecuta el pipeline y la pantalla se actualiza sola</a:t>
            </a:r>
            <a:endParaRPr lang="en-US" sz="1300" dirty="0"/>
          </a:p>
        </p:txBody>
      </p:sp>
      <p:sp>
        <p:nvSpPr>
          <p:cNvPr id="12" name="Shape 10"/>
          <p:cNvSpPr/>
          <p:nvPr/>
        </p:nvSpPr>
        <p:spPr>
          <a:xfrm>
            <a:off x="5081290" y="1987451"/>
            <a:ext cx="2029420" cy="1951236"/>
          </a:xfrm>
          <a:prstGeom prst="roundRect">
            <a:avLst>
              <a:gd name="adj" fmla="val 4882"/>
            </a:avLst>
          </a:prstGeom>
          <a:solidFill>
            <a:srgbClr val="1B3550"/>
          </a:solidFill>
          <a:ln w="12700">
            <a:solidFill>
              <a:srgbClr val="5CC8C4"/>
            </a:solidFill>
            <a:prstDash val="solid"/>
          </a:ln>
        </p:spPr>
      </p:sp>
      <p:sp>
        <p:nvSpPr>
          <p:cNvPr id="13" name="Text 11"/>
          <p:cNvSpPr/>
          <p:nvPr/>
        </p:nvSpPr>
        <p:spPr>
          <a:xfrm>
            <a:off x="5240040" y="2146201"/>
            <a:ext cx="1763278"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5CC8C4"/>
                </a:solidFill>
                <a:latin typeface="EB Garamond" pitchFamily="18" charset="0"/>
                <a:ea typeface="EB Garamond" pitchFamily="18" charset="-122"/>
                <a:cs typeface="EB Garamond" pitchFamily="18" charset="-120"/>
              </a:rPr>
              <a:t>3</a:t>
            </a:r>
            <a:endParaRPr lang="en-US" sz="2800" dirty="0"/>
          </a:p>
        </p:txBody>
      </p:sp>
      <p:sp>
        <p:nvSpPr>
          <p:cNvPr id="14" name="Text 12"/>
          <p:cNvSpPr/>
          <p:nvPr/>
        </p:nvSpPr>
        <p:spPr>
          <a:xfrm>
            <a:off x="5240040" y="2578001"/>
            <a:ext cx="176327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Resultado en unos 20 s</a:t>
            </a:r>
            <a:endParaRPr lang="en-US" sz="1500" dirty="0"/>
          </a:p>
        </p:txBody>
      </p:sp>
      <p:sp>
        <p:nvSpPr>
          <p:cNvPr id="15" name="Text 13"/>
          <p:cNvSpPr/>
          <p:nvPr/>
        </p:nvSpPr>
        <p:spPr>
          <a:xfrm>
            <a:off x="5240040" y="3111401"/>
            <a:ext cx="17632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3DCE4"/>
                </a:solidFill>
                <a:latin typeface="IBM Plex Sans" pitchFamily="34" charset="0"/>
                <a:ea typeface="IBM Plex Sans" pitchFamily="34" charset="-122"/>
                <a:cs typeface="IBM Plex Sans" pitchFamily="34" charset="-120"/>
              </a:rPr>
              <a:t>Calidad aprobada, 5.455 genes y locus K KL103</a:t>
            </a:r>
            <a:endParaRPr lang="en-US" sz="1300" dirty="0"/>
          </a:p>
        </p:txBody>
      </p:sp>
      <p:sp>
        <p:nvSpPr>
          <p:cNvPr id="16" name="Shape 14"/>
          <p:cNvSpPr/>
          <p:nvPr/>
        </p:nvSpPr>
        <p:spPr>
          <a:xfrm>
            <a:off x="7221835" y="1984276"/>
            <a:ext cx="2023170" cy="1957586"/>
          </a:xfrm>
          <a:prstGeom prst="roundRect">
            <a:avLst>
              <a:gd name="adj" fmla="val 5028"/>
            </a:avLst>
          </a:prstGeom>
          <a:solidFill>
            <a:srgbClr val="1B3550"/>
          </a:solidFill>
          <a:ln w="6350">
            <a:solidFill>
              <a:srgbClr val="2E4A66"/>
            </a:solidFill>
            <a:prstDash val="solid"/>
          </a:ln>
        </p:spPr>
      </p:sp>
      <p:sp>
        <p:nvSpPr>
          <p:cNvPr id="17" name="Text 15"/>
          <p:cNvSpPr/>
          <p:nvPr/>
        </p:nvSpPr>
        <p:spPr>
          <a:xfrm>
            <a:off x="7377410" y="2139851"/>
            <a:ext cx="1763380"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5CC8C4"/>
                </a:solidFill>
                <a:latin typeface="EB Garamond" pitchFamily="18" charset="0"/>
                <a:ea typeface="EB Garamond" pitchFamily="18" charset="-122"/>
                <a:cs typeface="EB Garamond" pitchFamily="18" charset="-120"/>
              </a:rPr>
              <a:t>4</a:t>
            </a:r>
            <a:endParaRPr lang="en-US" sz="2800" dirty="0"/>
          </a:p>
        </p:txBody>
      </p:sp>
      <p:sp>
        <p:nvSpPr>
          <p:cNvPr id="18" name="Text 16"/>
          <p:cNvSpPr/>
          <p:nvPr/>
        </p:nvSpPr>
        <p:spPr>
          <a:xfrm>
            <a:off x="7377410" y="2571651"/>
            <a:ext cx="17633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Trazabilidad</a:t>
            </a:r>
            <a:endParaRPr lang="en-US" sz="1500" dirty="0"/>
          </a:p>
        </p:txBody>
      </p:sp>
      <p:sp>
        <p:nvSpPr>
          <p:cNvPr id="19" name="Text 17"/>
          <p:cNvSpPr/>
          <p:nvPr/>
        </p:nvSpPr>
        <p:spPr>
          <a:xfrm>
            <a:off x="7377410" y="2876451"/>
            <a:ext cx="176338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3DCE4"/>
                </a:solidFill>
                <a:latin typeface="IBM Plex Sans" pitchFamily="34" charset="0"/>
                <a:ea typeface="IBM Plex Sans" pitchFamily="34" charset="-122"/>
                <a:cs typeface="IBM Plex Sans" pitchFamily="34" charset="-120"/>
              </a:rPr>
              <a:t>Historial de estados en PostgreSQL y salidas crudas en MongoDB</a:t>
            </a:r>
            <a:endParaRPr lang="en-US" sz="1300" dirty="0"/>
          </a:p>
        </p:txBody>
      </p:sp>
      <p:sp>
        <p:nvSpPr>
          <p:cNvPr id="20" name="Shape 18"/>
          <p:cNvSpPr/>
          <p:nvPr/>
        </p:nvSpPr>
        <p:spPr>
          <a:xfrm>
            <a:off x="9352955" y="1984276"/>
            <a:ext cx="2023070" cy="1957586"/>
          </a:xfrm>
          <a:prstGeom prst="roundRect">
            <a:avLst>
              <a:gd name="adj" fmla="val 5028"/>
            </a:avLst>
          </a:prstGeom>
          <a:solidFill>
            <a:srgbClr val="1B3550"/>
          </a:solidFill>
          <a:ln w="6350">
            <a:solidFill>
              <a:srgbClr val="2E4A66"/>
            </a:solidFill>
            <a:prstDash val="solid"/>
          </a:ln>
        </p:spPr>
      </p:sp>
      <p:sp>
        <p:nvSpPr>
          <p:cNvPr id="21" name="Text 19"/>
          <p:cNvSpPr/>
          <p:nvPr/>
        </p:nvSpPr>
        <p:spPr>
          <a:xfrm>
            <a:off x="9508530" y="2139851"/>
            <a:ext cx="1763278"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5CC8C4"/>
                </a:solidFill>
                <a:latin typeface="EB Garamond" pitchFamily="18" charset="0"/>
                <a:ea typeface="EB Garamond" pitchFamily="18" charset="-122"/>
                <a:cs typeface="EB Garamond" pitchFamily="18" charset="-120"/>
              </a:rPr>
              <a:t>5</a:t>
            </a:r>
            <a:endParaRPr lang="en-US" sz="2800" dirty="0"/>
          </a:p>
        </p:txBody>
      </p:sp>
      <p:sp>
        <p:nvSpPr>
          <p:cNvPr id="22" name="Text 20"/>
          <p:cNvSpPr/>
          <p:nvPr/>
        </p:nvSpPr>
        <p:spPr>
          <a:xfrm>
            <a:off x="9508530" y="2571651"/>
            <a:ext cx="1763278" cy="4826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7F4"/>
                </a:solidFill>
                <a:latin typeface="IBM Plex Sans" pitchFamily="34" charset="0"/>
                <a:ea typeface="IBM Plex Sans" pitchFamily="34" charset="-122"/>
                <a:cs typeface="IBM Plex Sans" pitchFamily="34" charset="-120"/>
              </a:rPr>
              <a:t>Rechazo con motivo</a:t>
            </a:r>
            <a:endParaRPr lang="en-US" sz="1500" dirty="0"/>
          </a:p>
        </p:txBody>
      </p:sp>
      <p:sp>
        <p:nvSpPr>
          <p:cNvPr id="23" name="Text 21"/>
          <p:cNvSpPr/>
          <p:nvPr/>
        </p:nvSpPr>
        <p:spPr>
          <a:xfrm>
            <a:off x="9508530" y="3105051"/>
            <a:ext cx="176327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3DCE4"/>
                </a:solidFill>
                <a:latin typeface="IBM Plex Sans" pitchFamily="34" charset="0"/>
                <a:ea typeface="IBM Plex Sans" pitchFamily="34" charset="-122"/>
                <a:cs typeface="IBM Plex Sans" pitchFamily="34" charset="-120"/>
              </a:rPr>
              <a:t>Un archivo de otra especie se rechaza y no se reintenta</a:t>
            </a:r>
            <a:endParaRPr lang="en-US" sz="1300" dirty="0"/>
          </a:p>
        </p:txBody>
      </p:sp>
      <p:sp>
        <p:nvSpPr>
          <p:cNvPr id="24" name="Shape 22"/>
          <p:cNvSpPr/>
          <p:nvPr/>
        </p:nvSpPr>
        <p:spPr>
          <a:xfrm>
            <a:off x="831850" y="4199037"/>
            <a:ext cx="0" cy="386060"/>
          </a:xfrm>
          <a:prstGeom prst="line">
            <a:avLst/>
          </a:prstGeom>
          <a:noFill/>
          <a:ln w="38100">
            <a:solidFill>
              <a:srgbClr val="5CC8C4"/>
            </a:solidFill>
            <a:prstDash val="solid"/>
          </a:ln>
        </p:spPr>
      </p:sp>
      <p:sp>
        <p:nvSpPr>
          <p:cNvPr id="25" name="Text 23"/>
          <p:cNvSpPr/>
          <p:nvPr/>
        </p:nvSpPr>
        <p:spPr>
          <a:xfrm>
            <a:off x="1003300" y="4249837"/>
            <a:ext cx="1053020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3DCE4"/>
                </a:solidFill>
                <a:latin typeface="IBM Plex Sans" pitchFamily="34" charset="0"/>
                <a:ea typeface="IBM Plex Sans" pitchFamily="34" charset="-122"/>
                <a:cs typeface="IBM Plex Sans" pitchFamily="34" charset="-120"/>
              </a:rPr>
              <a:t>Todo corre con docker compose: PostgreSQL, MongoDB, la API y el worker del pipeline.</a:t>
            </a:r>
            <a:endParaRPr lang="en-US" sz="1600" dirty="0"/>
          </a:p>
        </p:txBody>
      </p:sp>
      <p:sp>
        <p:nvSpPr>
          <p:cNvPr id="26" name="Text 24"/>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SIRFA · Informe de Avance</a:t>
            </a:r>
            <a:endParaRPr lang="en-US" sz="1200" dirty="0"/>
          </a:p>
        </p:txBody>
      </p:sp>
      <p:sp>
        <p:nvSpPr>
          <p:cNvPr id="27" name="Text 2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1C1"/>
                </a:solidFill>
                <a:latin typeface="IBM Plex Sans" pitchFamily="34" charset="0"/>
                <a:ea typeface="IBM Plex Sans" pitchFamily="34" charset="-122"/>
                <a:cs typeface="IBM Plex Sans" pitchFamily="34" charset="-120"/>
              </a:rPr>
              <a:t>16 / 21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RESULTADOS OBTENIDOS · PIPELINE, PLATAFORMA Y PRUEBAS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Pipeline, API y web mínima: lo construido</a:t>
            </a:r>
            <a:endParaRPr lang="en-US" sz="3200" dirty="0"/>
          </a:p>
        </p:txBody>
      </p:sp>
      <p:sp>
        <p:nvSpPr>
          <p:cNvPr id="4" name="Text 2"/>
          <p:cNvSpPr/>
          <p:nvPr/>
        </p:nvSpPr>
        <p:spPr>
          <a:xfrm>
            <a:off x="883920" y="1981101"/>
            <a:ext cx="5996056" cy="34925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Carga idempotente del banco desde la tabla pública de INPHARED: 200 fagos y sus 200 genomas de NCBI</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Validación de FASTA y control de calidad: N50, GC, contigs y bases ambiguas</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Cola de trabajos con hasta 3 intentos y estado Error</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Worker que guarda el análisis en PostgreSQL y las salidas crudas en MongoDB</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Especie verificada con Mash contra 13 referencias: acepta </a:t>
            </a:r>
            <a:r>
              <a:rPr lang="en-US" sz="1500" i="1" dirty="0">
                <a:solidFill>
                  <a:srgbClr val="12263A"/>
                </a:solidFill>
                <a:latin typeface="IBM Plex Sans" pitchFamily="34" charset="0"/>
                <a:ea typeface="IBM Plex Sans" pitchFamily="34" charset="-122"/>
                <a:cs typeface="IBM Plex Sans" pitchFamily="34" charset="-120"/>
              </a:rPr>
              <a:t>K. pneumoniae</a:t>
            </a:r>
            <a:r>
              <a:rPr lang="en-US" sz="1500" dirty="0">
                <a:solidFill>
                  <a:srgbClr val="12263A"/>
                </a:solidFill>
                <a:latin typeface="IBM Plex Sans" pitchFamily="34" charset="0"/>
                <a:ea typeface="IBM Plex Sans" pitchFamily="34" charset="-122"/>
                <a:cs typeface="IBM Plex Sans" pitchFamily="34" charset="-120"/>
              </a:rPr>
              <a:t> y rechaza otras especies</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API de 9 endpoints y web mínima: se sube el genoma y se ven calidad, especie, locus K y genes, sin autenticación</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Los fagos candidatos no se ordenan: el banco aún no tiene interacciones fago-cepa</a:t>
            </a:r>
            <a:endParaRPr lang="en-US" sz="1500" dirty="0"/>
          </a:p>
        </p:txBody>
      </p:sp>
      <p:sp>
        <p:nvSpPr>
          <p:cNvPr id="5" name="Shape 3"/>
          <p:cNvSpPr/>
          <p:nvPr/>
        </p:nvSpPr>
        <p:spPr>
          <a:xfrm>
            <a:off x="6920210" y="1987451"/>
            <a:ext cx="4452640" cy="3454400"/>
          </a:xfrm>
          <a:prstGeom prst="roundRect">
            <a:avLst>
              <a:gd name="adj" fmla="val 2757"/>
            </a:avLst>
          </a:prstGeom>
          <a:solidFill>
            <a:srgbClr val="E4F1F0"/>
          </a:solidFill>
          <a:ln w="12700">
            <a:solidFill>
              <a:srgbClr val="17706F"/>
            </a:solidFill>
            <a:prstDash val="dash"/>
          </a:ln>
        </p:spPr>
      </p:sp>
      <p:sp>
        <p:nvSpPr>
          <p:cNvPr id="6" name="Text 4"/>
          <p:cNvSpPr/>
          <p:nvPr/>
        </p:nvSpPr>
        <p:spPr>
          <a:xfrm>
            <a:off x="7180560" y="2247801"/>
            <a:ext cx="404989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5251"/>
                </a:solidFill>
                <a:latin typeface="IBM Plex Sans" pitchFamily="34" charset="0"/>
                <a:ea typeface="IBM Plex Sans" pitchFamily="34" charset="-122"/>
                <a:cs typeface="IBM Plex Sans" pitchFamily="34" charset="-120"/>
              </a:rPr>
              <a:t>Pruebas</a:t>
            </a:r>
            <a:endParaRPr lang="en-US" sz="1800" dirty="0"/>
          </a:p>
        </p:txBody>
      </p:sp>
      <p:sp>
        <p:nvSpPr>
          <p:cNvPr id="7" name="Text 5"/>
          <p:cNvSpPr/>
          <p:nvPr/>
        </p:nvSpPr>
        <p:spPr>
          <a:xfrm>
            <a:off x="7180560" y="2623641"/>
            <a:ext cx="4049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102 automatizadas pasan: 78 del pipeline y la base de datos, y 24 de la API</a:t>
            </a:r>
            <a:endParaRPr lang="en-US" sz="1400" dirty="0"/>
          </a:p>
        </p:txBody>
      </p:sp>
      <p:sp>
        <p:nvSpPr>
          <p:cNvPr id="8" name="Text 6"/>
          <p:cNvSpPr/>
          <p:nvPr/>
        </p:nvSpPr>
        <p:spPr>
          <a:xfrm>
            <a:off x="7180560" y="3222923"/>
            <a:ext cx="404989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60 casos diseñados para la semana 15: unitarias, extremo a extremo, rendimiento y seguridad</a:t>
            </a:r>
            <a:endParaRPr lang="en-US" sz="1400" dirty="0"/>
          </a:p>
        </p:txBody>
      </p:sp>
      <p:sp>
        <p:nvSpPr>
          <p:cNvPr id="9" name="Text 7"/>
          <p:cNvSpPr/>
          <p:nvPr/>
        </p:nvSpPr>
        <p:spPr>
          <a:xfrm>
            <a:off x="7186910" y="3828554"/>
            <a:ext cx="3919240" cy="959941"/>
          </a:xfrm>
          <a:prstGeom prst="roundRect">
            <a:avLst>
              <a:gd name="adj" fmla="val 7276"/>
            </a:avLst>
          </a:prstGeom>
          <a:solidFill>
            <a:srgbClr val="FFF6E5"/>
          </a:solidFill>
          <a:ln w="12700">
            <a:solidFill>
              <a:srgbClr val="E8A64B"/>
            </a:solidFill>
            <a:prstDash val="solid"/>
          </a:ln>
        </p:spPr>
        <p:txBody>
          <a:bodyPr wrap="square" lIns="112892" tIns="112892" rIns="3315" bIns="87492" rtlCol="0" anchor="t">
            <a:normAutofit/>
          </a:bodyPr>
          <a:lstStyle/>
          <a:p>
            <a:pPr algn="l" indent="0" marL="0">
              <a:lnSpc>
                <a:spcPts val="1820"/>
              </a:lnSpc>
              <a:buNone/>
            </a:pPr>
            <a:r>
              <a:rPr lang="en-US" sz="1300" b="1" dirty="0">
                <a:solidFill>
                  <a:srgbClr val="12263A"/>
                </a:solidFill>
                <a:latin typeface="IBM Plex Sans" pitchFamily="34" charset="0"/>
                <a:ea typeface="IBM Plex Sans" pitchFamily="34" charset="-122"/>
                <a:cs typeface="IBM Plex Sans" pitchFamily="34" charset="-120"/>
              </a:rPr>
              <a:t>Límite declarado:</a:t>
            </a:r>
            <a:r>
              <a:rPr lang="en-US" sz="1300" dirty="0">
                <a:solidFill>
                  <a:srgbClr val="12263A"/>
                </a:solidFill>
                <a:latin typeface="IBM Plex Sans" pitchFamily="34" charset="0"/>
                <a:ea typeface="IBM Plex Sans" pitchFamily="34" charset="-122"/>
                <a:cs typeface="IBM Plex Sans" pitchFamily="34" charset="-120"/>
              </a:rPr>
              <a:t> todo corre sobre SQLite en memoria con datos sintéticos, así que la concurrencia de varios workers no está probada.</a:t>
            </a:r>
            <a:endParaRPr lang="en-US" sz="1300" dirty="0"/>
          </a:p>
        </p:txBody>
      </p:sp>
      <p:sp>
        <p:nvSpPr>
          <p:cNvPr id="10" name="Text 8"/>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17 / 21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OBSTÁCULOS PRESENTADOS DURANTE EL DESARROLLO</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El retraso de cinco a seis semanas tiene tres causas y una lección</a:t>
            </a:r>
            <a:endParaRPr lang="en-US" sz="3200" dirty="0"/>
          </a:p>
        </p:txBody>
      </p:sp>
      <p:sp>
        <p:nvSpPr>
          <p:cNvPr id="4" name="Shape 2"/>
          <p:cNvSpPr/>
          <p:nvPr/>
        </p:nvSpPr>
        <p:spPr>
          <a:xfrm>
            <a:off x="815975" y="1984276"/>
            <a:ext cx="3414117" cy="1932781"/>
          </a:xfrm>
          <a:prstGeom prst="roundRect">
            <a:avLst>
              <a:gd name="adj" fmla="val 5092"/>
            </a:avLst>
          </a:prstGeom>
          <a:solidFill>
            <a:srgbClr val="FFFFFF"/>
          </a:solidFill>
          <a:ln w="6350">
            <a:solidFill>
              <a:srgbClr val="D5DCE1"/>
            </a:solidFill>
            <a:prstDash val="solid"/>
          </a:ln>
        </p:spPr>
      </p:sp>
      <p:sp>
        <p:nvSpPr>
          <p:cNvPr id="5" name="Text 3"/>
          <p:cNvSpPr/>
          <p:nvPr/>
        </p:nvSpPr>
        <p:spPr>
          <a:xfrm>
            <a:off x="1022350" y="2190651"/>
            <a:ext cx="309140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Redacción tardía</a:t>
            </a:r>
            <a:endParaRPr lang="en-US" sz="1600" dirty="0"/>
          </a:p>
        </p:txBody>
      </p:sp>
      <p:sp>
        <p:nvSpPr>
          <p:cNvPr id="6" name="Text 4"/>
          <p:cNvSpPr/>
          <p:nvPr/>
        </p:nvSpPr>
        <p:spPr>
          <a:xfrm>
            <a:off x="1022350" y="2510631"/>
            <a:ext cx="3091408" cy="122545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Requisitos y diseño estaban planificados para las semanas 5 a 7 y se redactaron en la semana 12. El modelo debía empezar en la semana 11 y no ha comenzado.</a:t>
            </a:r>
            <a:endParaRPr lang="en-US" sz="1400" dirty="0"/>
          </a:p>
        </p:txBody>
      </p:sp>
      <p:sp>
        <p:nvSpPr>
          <p:cNvPr id="7" name="Shape 5"/>
          <p:cNvSpPr/>
          <p:nvPr/>
        </p:nvSpPr>
        <p:spPr>
          <a:xfrm>
            <a:off x="4388842" y="1984276"/>
            <a:ext cx="3414216" cy="1932781"/>
          </a:xfrm>
          <a:prstGeom prst="roundRect">
            <a:avLst>
              <a:gd name="adj" fmla="val 5092"/>
            </a:avLst>
          </a:prstGeom>
          <a:solidFill>
            <a:srgbClr val="FFFFFF"/>
          </a:solidFill>
          <a:ln w="6350">
            <a:solidFill>
              <a:srgbClr val="D5DCE1"/>
            </a:solidFill>
            <a:prstDash val="solid"/>
          </a:ln>
        </p:spPr>
      </p:sp>
      <p:sp>
        <p:nvSpPr>
          <p:cNvPr id="8" name="Text 6"/>
          <p:cNvSpPr/>
          <p:nvPr/>
        </p:nvSpPr>
        <p:spPr>
          <a:xfrm>
            <a:off x="4595217" y="219065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Entorno de desarrollo</a:t>
            </a:r>
            <a:endParaRPr lang="en-US" sz="1600" dirty="0"/>
          </a:p>
        </p:txBody>
      </p:sp>
      <p:sp>
        <p:nvSpPr>
          <p:cNvPr id="9" name="Text 7"/>
          <p:cNvSpPr/>
          <p:nvPr/>
        </p:nvSpPr>
        <p:spPr>
          <a:xfrm>
            <a:off x="4595217" y="2510631"/>
            <a:ext cx="3091510" cy="985441"/>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Docker, Git y Python no estaban instalados. Docker Desktop exigió WSL2, permisos de administrador y reinicios.</a:t>
            </a:r>
            <a:endParaRPr lang="en-US" sz="1400" dirty="0"/>
          </a:p>
        </p:txBody>
      </p:sp>
      <p:sp>
        <p:nvSpPr>
          <p:cNvPr id="10" name="Shape 8"/>
          <p:cNvSpPr/>
          <p:nvPr/>
        </p:nvSpPr>
        <p:spPr>
          <a:xfrm>
            <a:off x="7961809" y="1984276"/>
            <a:ext cx="3414216" cy="1932781"/>
          </a:xfrm>
          <a:prstGeom prst="roundRect">
            <a:avLst>
              <a:gd name="adj" fmla="val 5092"/>
            </a:avLst>
          </a:prstGeom>
          <a:solidFill>
            <a:srgbClr val="FFFFFF"/>
          </a:solidFill>
          <a:ln w="6350">
            <a:solidFill>
              <a:srgbClr val="D5DCE1"/>
            </a:solidFill>
            <a:prstDash val="solid"/>
          </a:ln>
        </p:spPr>
      </p:sp>
      <p:sp>
        <p:nvSpPr>
          <p:cNvPr id="11" name="Text 9"/>
          <p:cNvSpPr/>
          <p:nvPr/>
        </p:nvSpPr>
        <p:spPr>
          <a:xfrm>
            <a:off x="8168184" y="2190651"/>
            <a:ext cx="309151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7706F"/>
                </a:solidFill>
                <a:latin typeface="IBM Plex Sans" pitchFamily="34" charset="0"/>
                <a:ea typeface="IBM Plex Sans" pitchFamily="34" charset="-122"/>
                <a:cs typeface="IBM Plex Sans" pitchFamily="34" charset="-120"/>
              </a:rPr>
              <a:t>Alcance sobredimensionado</a:t>
            </a:r>
            <a:endParaRPr lang="en-US" sz="1600" dirty="0"/>
          </a:p>
        </p:txBody>
      </p:sp>
      <p:sp>
        <p:nvSpPr>
          <p:cNvPr id="12" name="Text 10"/>
          <p:cNvSpPr/>
          <p:nvPr/>
        </p:nvSpPr>
        <p:spPr>
          <a:xfrm>
            <a:off x="8168184" y="2510631"/>
            <a:ext cx="3091510"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2263A"/>
                </a:solidFill>
                <a:latin typeface="IBM Plex Sans" pitchFamily="34" charset="0"/>
                <a:ea typeface="IBM Plex Sans" pitchFamily="34" charset="-122"/>
                <a:cs typeface="IBM Plex Sans" pitchFamily="34" charset="-120"/>
              </a:rPr>
              <a:t>48 de los 66 requisitos funcionales quedaron en prioridad Alta para un solo desarrollador.</a:t>
            </a:r>
            <a:endParaRPr lang="en-US" sz="1400" dirty="0"/>
          </a:p>
        </p:txBody>
      </p:sp>
      <p:sp>
        <p:nvSpPr>
          <p:cNvPr id="13" name="Shape 11"/>
          <p:cNvSpPr/>
          <p:nvPr/>
        </p:nvSpPr>
        <p:spPr>
          <a:xfrm>
            <a:off x="831850" y="4174232"/>
            <a:ext cx="0" cy="670520"/>
          </a:xfrm>
          <a:prstGeom prst="line">
            <a:avLst/>
          </a:prstGeom>
          <a:noFill/>
          <a:ln w="38100">
            <a:solidFill>
              <a:srgbClr val="17706F"/>
            </a:solidFill>
            <a:prstDash val="solid"/>
          </a:ln>
        </p:spPr>
      </p:sp>
      <p:sp>
        <p:nvSpPr>
          <p:cNvPr id="14" name="Text 12"/>
          <p:cNvSpPr/>
          <p:nvPr/>
        </p:nvSpPr>
        <p:spPr>
          <a:xfrm>
            <a:off x="1003300" y="4225032"/>
            <a:ext cx="1053020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2263A"/>
                </a:solidFill>
                <a:latin typeface="IBM Plex Sans" pitchFamily="34" charset="0"/>
                <a:ea typeface="IBM Plex Sans" pitchFamily="34" charset="-122"/>
                <a:cs typeface="IBM Plex Sans" pitchFamily="34" charset="-120"/>
              </a:rPr>
              <a:t>Lección:</a:t>
            </a:r>
            <a:r>
              <a:rPr lang="en-US" sz="1600" dirty="0">
                <a:solidFill>
                  <a:srgbClr val="12263A"/>
                </a:solidFill>
                <a:latin typeface="IBM Plex Sans" pitchFamily="34" charset="0"/>
                <a:ea typeface="IBM Plex Sans" pitchFamily="34" charset="-122"/>
                <a:cs typeface="IBM Plex Sans" pitchFamily="34" charset="-120"/>
              </a:rPr>
              <a:t> priorizar los requisitos desde el inicio y redactar requisitos y diseño en las semanas 5 a 7, como estaba planificado.</a:t>
            </a:r>
            <a:endParaRPr lang="en-US" sz="1600" dirty="0"/>
          </a:p>
        </p:txBody>
      </p:sp>
      <p:sp>
        <p:nvSpPr>
          <p:cNvPr id="15" name="Text 13"/>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18 / 21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AJUSTES Y PRÓXIMOS PASOS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Se propone priorizar lo comprometido y acotar el alcance</a:t>
            </a:r>
            <a:endParaRPr lang="en-US" sz="3200" dirty="0"/>
          </a:p>
        </p:txBody>
      </p:sp>
      <p:sp>
        <p:nvSpPr>
          <p:cNvPr id="4" name="Shape 2"/>
          <p:cNvSpPr/>
          <p:nvPr/>
        </p:nvSpPr>
        <p:spPr>
          <a:xfrm>
            <a:off x="815975" y="1984276"/>
            <a:ext cx="5175250" cy="2782491"/>
          </a:xfrm>
          <a:prstGeom prst="roundRect">
            <a:avLst>
              <a:gd name="adj" fmla="val 3537"/>
            </a:avLst>
          </a:prstGeom>
          <a:solidFill>
            <a:srgbClr val="FFFFFF"/>
          </a:solidFill>
          <a:ln w="6350">
            <a:solidFill>
              <a:srgbClr val="D5DCE1"/>
            </a:solidFill>
            <a:prstDash val="solid"/>
          </a:ln>
        </p:spPr>
      </p:sp>
      <p:sp>
        <p:nvSpPr>
          <p:cNvPr id="5" name="Text 3"/>
          <p:cNvSpPr/>
          <p:nvPr/>
        </p:nvSpPr>
        <p:spPr>
          <a:xfrm>
            <a:off x="1073150" y="224145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06F"/>
                </a:solidFill>
                <a:latin typeface="IBM Plex Sans" pitchFamily="34" charset="0"/>
                <a:ea typeface="IBM Plex Sans" pitchFamily="34" charset="-122"/>
                <a:cs typeface="IBM Plex Sans" pitchFamily="34" charset="-120"/>
              </a:rPr>
              <a:t>Ajustes propuestos</a:t>
            </a:r>
            <a:endParaRPr lang="en-US" sz="1800" dirty="0"/>
          </a:p>
        </p:txBody>
      </p:sp>
      <p:sp>
        <p:nvSpPr>
          <p:cNvPr id="6" name="Text 4"/>
          <p:cNvSpPr/>
          <p:nvPr/>
        </p:nvSpPr>
        <p:spPr>
          <a:xfrm>
            <a:off x="1144270" y="2642691"/>
            <a:ext cx="4721987" cy="18923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Reducir los requisitos de prioridad Alta a un núcleo realista</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SC-01: precisar el RNF-16, porque la analítica corre dentro de la API</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App móvil acotada a consulta y alertas</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Construir primero un flujo vertical mínimo, de punta a punta</a:t>
            </a:r>
            <a:endParaRPr lang="en-US" sz="1500" dirty="0"/>
          </a:p>
        </p:txBody>
      </p:sp>
      <p:sp>
        <p:nvSpPr>
          <p:cNvPr id="7" name="Shape 5"/>
          <p:cNvSpPr/>
          <p:nvPr/>
        </p:nvSpPr>
        <p:spPr>
          <a:xfrm>
            <a:off x="6200775" y="1984276"/>
            <a:ext cx="5175250" cy="2782491"/>
          </a:xfrm>
          <a:prstGeom prst="roundRect">
            <a:avLst>
              <a:gd name="adj" fmla="val 3537"/>
            </a:avLst>
          </a:prstGeom>
          <a:solidFill>
            <a:srgbClr val="FFFFFF"/>
          </a:solidFill>
          <a:ln w="6350">
            <a:solidFill>
              <a:srgbClr val="D5DCE1"/>
            </a:solidFill>
            <a:prstDash val="solid"/>
          </a:ln>
        </p:spPr>
      </p:sp>
      <p:sp>
        <p:nvSpPr>
          <p:cNvPr id="8" name="Text 6"/>
          <p:cNvSpPr/>
          <p:nvPr/>
        </p:nvSpPr>
        <p:spPr>
          <a:xfrm>
            <a:off x="6457950" y="2241451"/>
            <a:ext cx="480072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7706F"/>
                </a:solidFill>
                <a:latin typeface="IBM Plex Sans" pitchFamily="34" charset="0"/>
                <a:ea typeface="IBM Plex Sans" pitchFamily="34" charset="-122"/>
                <a:cs typeface="IBM Plex Sans" pitchFamily="34" charset="-120"/>
              </a:rPr>
              <a:t>Próximos pasos</a:t>
            </a:r>
            <a:endParaRPr lang="en-US" sz="1800" dirty="0"/>
          </a:p>
        </p:txBody>
      </p:sp>
      <p:sp>
        <p:nvSpPr>
          <p:cNvPr id="9" name="Text 7"/>
          <p:cNvSpPr/>
          <p:nvPr/>
        </p:nvSpPr>
        <p:spPr>
          <a:xfrm>
            <a:off x="6529070" y="2642691"/>
            <a:ext cx="4721987" cy="1892300"/>
          </a:xfrm>
          <a:prstGeom prst="rect">
            <a:avLst/>
          </a:prstGeom>
          <a:noFill/>
          <a:ln/>
        </p:spPr>
        <p:txBody>
          <a:bodyPr wrap="square" lIns="0" tIns="0" rIns="0" bIns="0" rtlCol="0" anchor="t">
            <a:normAutofit/>
          </a:bodyPr>
          <a:lstStyle/>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Modelo de predicción y su evaluación contra la literatura</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Completar la API: acceso por rol, validación, auditoría y tablero</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Plan de pruebas ejecutado con evidencias</a:t>
            </a:r>
            <a:endParaRPr lang="en-US" sz="1500" dirty="0"/>
          </a:p>
          <a:p>
            <a:pPr algn="l" marL="182880" indent="-182880">
              <a:lnSpc>
                <a:spcPts val="2100"/>
              </a:lnSpc>
              <a:buSzPct val="100000"/>
              <a:buChar char="•"/>
            </a:pPr>
            <a:r>
              <a:rPr lang="en-US" sz="1500" dirty="0">
                <a:solidFill>
                  <a:srgbClr val="12263A"/>
                </a:solidFill>
                <a:latin typeface="IBM Plex Sans" pitchFamily="34" charset="0"/>
                <a:ea typeface="IBM Plex Sans" pitchFamily="34" charset="-122"/>
                <a:cs typeface="IBM Plex Sans" pitchFamily="34" charset="-120"/>
              </a:rPr>
              <a:t>Publicar el repositorio institucional con README y Docker</a:t>
            </a:r>
            <a:endParaRPr lang="en-US" sz="1500" dirty="0"/>
          </a:p>
        </p:txBody>
      </p:sp>
      <p:sp>
        <p:nvSpPr>
          <p:cNvPr id="10" name="Text 8"/>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19 / 21</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706F"/>
                </a:solidFill>
                <a:latin typeface="IBM Plex Sans" pitchFamily="34" charset="0"/>
                <a:ea typeface="IBM Plex Sans" pitchFamily="34" charset="-122"/>
                <a:cs typeface="IBM Plex Sans" pitchFamily="34" charset="-120"/>
              </a:rPr>
              <a:t>MEJORAS FUTURAS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2263A"/>
                </a:solidFill>
                <a:latin typeface="EB Garamond" pitchFamily="18" charset="0"/>
                <a:ea typeface="EB Garamond" pitchFamily="18" charset="-122"/>
                <a:cs typeface="EB Garamond" pitchFamily="18" charset="-120"/>
              </a:rPr>
              <a:t>Lo que queda fuera hoy y cómo crecería el sistema</a:t>
            </a:r>
            <a:endParaRPr lang="en-US" sz="3200" dirty="0"/>
          </a:p>
        </p:txBody>
      </p:sp>
      <p:sp>
        <p:nvSpPr>
          <p:cNvPr id="4" name="Shape 2"/>
          <p:cNvSpPr/>
          <p:nvPr/>
        </p:nvSpPr>
        <p:spPr>
          <a:xfrm>
            <a:off x="815975" y="1984276"/>
            <a:ext cx="2559050" cy="2302272"/>
          </a:xfrm>
          <a:prstGeom prst="roundRect">
            <a:avLst>
              <a:gd name="adj" fmla="val 4275"/>
            </a:avLst>
          </a:prstGeom>
          <a:solidFill>
            <a:srgbClr val="FFFFFF"/>
          </a:solidFill>
          <a:ln w="6350">
            <a:solidFill>
              <a:srgbClr val="D5DCE1"/>
            </a:solidFill>
            <a:prstDash val="solid"/>
          </a:ln>
        </p:spPr>
      </p:sp>
      <p:sp>
        <p:nvSpPr>
          <p:cNvPr id="5" name="Text 3"/>
          <p:cNvSpPr/>
          <p:nvPr/>
        </p:nvSpPr>
        <p:spPr>
          <a:xfrm>
            <a:off x="996950" y="2165251"/>
            <a:ext cx="226301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17706F"/>
                </a:solidFill>
                <a:latin typeface="EB Garamond" pitchFamily="18" charset="0"/>
                <a:ea typeface="EB Garamond" pitchFamily="18" charset="-122"/>
                <a:cs typeface="EB Garamond" pitchFamily="18" charset="-120"/>
              </a:rPr>
              <a:t>1</a:t>
            </a:r>
            <a:endParaRPr lang="en-US" sz="2800" dirty="0"/>
          </a:p>
        </p:txBody>
      </p:sp>
      <p:sp>
        <p:nvSpPr>
          <p:cNvPr id="6" name="Text 4"/>
          <p:cNvSpPr/>
          <p:nvPr/>
        </p:nvSpPr>
        <p:spPr>
          <a:xfrm>
            <a:off x="996950" y="2597051"/>
            <a:ext cx="226301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263A"/>
                </a:solidFill>
                <a:latin typeface="IBM Plex Sans" pitchFamily="34" charset="0"/>
                <a:ea typeface="IBM Plex Sans" pitchFamily="34" charset="-122"/>
                <a:cs typeface="IBM Plex Sans" pitchFamily="34" charset="-120"/>
              </a:rPr>
              <a:t>Otros patógenos</a:t>
            </a:r>
            <a:endParaRPr lang="en-US" sz="1600" dirty="0"/>
          </a:p>
        </p:txBody>
      </p:sp>
      <p:sp>
        <p:nvSpPr>
          <p:cNvPr id="7" name="Text 5"/>
          <p:cNvSpPr/>
          <p:nvPr/>
        </p:nvSpPr>
        <p:spPr>
          <a:xfrm>
            <a:off x="996950" y="2927251"/>
            <a:ext cx="2263013" cy="1180802"/>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44566A"/>
                </a:solidFill>
                <a:latin typeface="IBM Plex Sans" pitchFamily="34" charset="0"/>
                <a:ea typeface="IBM Plex Sans" pitchFamily="34" charset="-122"/>
                <a:cs typeface="IBM Plex Sans" pitchFamily="34" charset="-120"/>
              </a:rPr>
              <a:t>Pseudomonas aeruginosa</a:t>
            </a:r>
            <a:r>
              <a:rPr lang="en-US" sz="1300" dirty="0">
                <a:solidFill>
                  <a:srgbClr val="44566A"/>
                </a:solidFill>
                <a:latin typeface="IBM Plex Sans" pitchFamily="34" charset="0"/>
                <a:ea typeface="IBM Plex Sans" pitchFamily="34" charset="-122"/>
                <a:cs typeface="IBM Plex Sans" pitchFamily="34" charset="-120"/>
              </a:rPr>
              <a:t> como extensión opcional: la especie es un atributo y cada modelo declara su especie objetivo</a:t>
            </a:r>
            <a:endParaRPr lang="en-US" sz="1300" dirty="0"/>
          </a:p>
        </p:txBody>
      </p:sp>
      <p:sp>
        <p:nvSpPr>
          <p:cNvPr id="8" name="Shape 6"/>
          <p:cNvSpPr/>
          <p:nvPr/>
        </p:nvSpPr>
        <p:spPr>
          <a:xfrm>
            <a:off x="3482975" y="1984276"/>
            <a:ext cx="2559050" cy="2302272"/>
          </a:xfrm>
          <a:prstGeom prst="roundRect">
            <a:avLst>
              <a:gd name="adj" fmla="val 4275"/>
            </a:avLst>
          </a:prstGeom>
          <a:solidFill>
            <a:srgbClr val="FFFFFF"/>
          </a:solidFill>
          <a:ln w="6350">
            <a:solidFill>
              <a:srgbClr val="D5DCE1"/>
            </a:solidFill>
            <a:prstDash val="solid"/>
          </a:ln>
        </p:spPr>
      </p:sp>
      <p:sp>
        <p:nvSpPr>
          <p:cNvPr id="9" name="Text 7"/>
          <p:cNvSpPr/>
          <p:nvPr/>
        </p:nvSpPr>
        <p:spPr>
          <a:xfrm>
            <a:off x="3663950" y="2165251"/>
            <a:ext cx="226301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17706F"/>
                </a:solidFill>
                <a:latin typeface="EB Garamond" pitchFamily="18" charset="0"/>
                <a:ea typeface="EB Garamond" pitchFamily="18" charset="-122"/>
                <a:cs typeface="EB Garamond" pitchFamily="18" charset="-120"/>
              </a:rPr>
              <a:t>2</a:t>
            </a:r>
            <a:endParaRPr lang="en-US" sz="2800" dirty="0"/>
          </a:p>
        </p:txBody>
      </p:sp>
      <p:sp>
        <p:nvSpPr>
          <p:cNvPr id="10" name="Text 8"/>
          <p:cNvSpPr/>
          <p:nvPr/>
        </p:nvSpPr>
        <p:spPr>
          <a:xfrm>
            <a:off x="3663950" y="2597051"/>
            <a:ext cx="2263013"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263A"/>
                </a:solidFill>
                <a:latin typeface="IBM Plex Sans" pitchFamily="34" charset="0"/>
                <a:ea typeface="IBM Plex Sans" pitchFamily="34" charset="-122"/>
                <a:cs typeface="IBM Plex Sans" pitchFamily="34" charset="-120"/>
              </a:rPr>
              <a:t>Integración hospitalaria</a:t>
            </a:r>
            <a:endParaRPr lang="en-US" sz="1600" dirty="0"/>
          </a:p>
        </p:txBody>
      </p:sp>
      <p:sp>
        <p:nvSpPr>
          <p:cNvPr id="11" name="Text 9"/>
          <p:cNvSpPr/>
          <p:nvPr/>
        </p:nvSpPr>
        <p:spPr>
          <a:xfrm>
            <a:off x="3663950" y="3181251"/>
            <a:ext cx="2263013"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Conexión con sistemas de laboratorio, sistemas hospitalarios y la ficha clínica electrónica</a:t>
            </a:r>
            <a:endParaRPr lang="en-US" sz="1300" dirty="0"/>
          </a:p>
        </p:txBody>
      </p:sp>
      <p:sp>
        <p:nvSpPr>
          <p:cNvPr id="12" name="Shape 10"/>
          <p:cNvSpPr/>
          <p:nvPr/>
        </p:nvSpPr>
        <p:spPr>
          <a:xfrm>
            <a:off x="6149975" y="1984276"/>
            <a:ext cx="2559050" cy="2302272"/>
          </a:xfrm>
          <a:prstGeom prst="roundRect">
            <a:avLst>
              <a:gd name="adj" fmla="val 4275"/>
            </a:avLst>
          </a:prstGeom>
          <a:solidFill>
            <a:srgbClr val="FFFFFF"/>
          </a:solidFill>
          <a:ln w="6350">
            <a:solidFill>
              <a:srgbClr val="D5DCE1"/>
            </a:solidFill>
            <a:prstDash val="solid"/>
          </a:ln>
        </p:spPr>
      </p:sp>
      <p:sp>
        <p:nvSpPr>
          <p:cNvPr id="13" name="Text 11"/>
          <p:cNvSpPr/>
          <p:nvPr/>
        </p:nvSpPr>
        <p:spPr>
          <a:xfrm>
            <a:off x="6330950" y="2165251"/>
            <a:ext cx="226301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17706F"/>
                </a:solidFill>
                <a:latin typeface="EB Garamond" pitchFamily="18" charset="0"/>
                <a:ea typeface="EB Garamond" pitchFamily="18" charset="-122"/>
                <a:cs typeface="EB Garamond" pitchFamily="18" charset="-120"/>
              </a:rPr>
              <a:t>3</a:t>
            </a:r>
            <a:endParaRPr lang="en-US" sz="2800" dirty="0"/>
          </a:p>
        </p:txBody>
      </p:sp>
      <p:sp>
        <p:nvSpPr>
          <p:cNvPr id="14" name="Text 12"/>
          <p:cNvSpPr/>
          <p:nvPr/>
        </p:nvSpPr>
        <p:spPr>
          <a:xfrm>
            <a:off x="6330950" y="2597051"/>
            <a:ext cx="2263013"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263A"/>
                </a:solidFill>
                <a:latin typeface="IBM Plex Sans" pitchFamily="34" charset="0"/>
                <a:ea typeface="IBM Plex Sans" pitchFamily="34" charset="-122"/>
                <a:cs typeface="IBM Plex Sans" pitchFamily="34" charset="-120"/>
              </a:rPr>
              <a:t>Validación experimental</a:t>
            </a:r>
            <a:endParaRPr lang="en-US" sz="1600" dirty="0"/>
          </a:p>
        </p:txBody>
      </p:sp>
      <p:sp>
        <p:nvSpPr>
          <p:cNvPr id="15" name="Text 13"/>
          <p:cNvSpPr/>
          <p:nvPr/>
        </p:nvSpPr>
        <p:spPr>
          <a:xfrm>
            <a:off x="6330950" y="3181251"/>
            <a:ext cx="2263013"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Ensayar en laboratorio las recomendaciones, para pasar de hipótesis priorizada a evidencia</a:t>
            </a:r>
            <a:endParaRPr lang="en-US" sz="1300" dirty="0"/>
          </a:p>
        </p:txBody>
      </p:sp>
      <p:sp>
        <p:nvSpPr>
          <p:cNvPr id="16" name="Shape 14"/>
          <p:cNvSpPr/>
          <p:nvPr/>
        </p:nvSpPr>
        <p:spPr>
          <a:xfrm>
            <a:off x="8816975" y="1984276"/>
            <a:ext cx="2559050" cy="2302272"/>
          </a:xfrm>
          <a:prstGeom prst="roundRect">
            <a:avLst>
              <a:gd name="adj" fmla="val 4275"/>
            </a:avLst>
          </a:prstGeom>
          <a:solidFill>
            <a:srgbClr val="FFFFFF"/>
          </a:solidFill>
          <a:ln w="6350">
            <a:solidFill>
              <a:srgbClr val="D5DCE1"/>
            </a:solidFill>
            <a:prstDash val="solid"/>
          </a:ln>
        </p:spPr>
      </p:sp>
      <p:sp>
        <p:nvSpPr>
          <p:cNvPr id="17" name="Text 15"/>
          <p:cNvSpPr/>
          <p:nvPr/>
        </p:nvSpPr>
        <p:spPr>
          <a:xfrm>
            <a:off x="8997950" y="2165251"/>
            <a:ext cx="2263013" cy="381000"/>
          </a:xfrm>
          <a:prstGeom prst="rect">
            <a:avLst/>
          </a:prstGeom>
          <a:noFill/>
          <a:ln/>
        </p:spPr>
        <p:txBody>
          <a:bodyPr wrap="square" lIns="0" tIns="0" rIns="0" bIns="0" rtlCol="0" anchor="t">
            <a:normAutofit/>
          </a:bodyPr>
          <a:lstStyle/>
          <a:p>
            <a:pPr algn="l" indent="0" marL="0">
              <a:lnSpc>
                <a:spcPts val="2800"/>
              </a:lnSpc>
              <a:buNone/>
            </a:pPr>
            <a:r>
              <a:rPr lang="en-US" sz="2800" dirty="0">
                <a:solidFill>
                  <a:srgbClr val="17706F"/>
                </a:solidFill>
                <a:latin typeface="EB Garamond" pitchFamily="18" charset="0"/>
                <a:ea typeface="EB Garamond" pitchFamily="18" charset="-122"/>
                <a:cs typeface="EB Garamond" pitchFamily="18" charset="-120"/>
              </a:rPr>
              <a:t>4</a:t>
            </a:r>
            <a:endParaRPr lang="en-US" sz="2800" dirty="0"/>
          </a:p>
        </p:txBody>
      </p:sp>
      <p:sp>
        <p:nvSpPr>
          <p:cNvPr id="18" name="Text 16"/>
          <p:cNvSpPr/>
          <p:nvPr/>
        </p:nvSpPr>
        <p:spPr>
          <a:xfrm>
            <a:off x="8997950" y="2597051"/>
            <a:ext cx="226301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2263A"/>
                </a:solidFill>
                <a:latin typeface="IBM Plex Sans" pitchFamily="34" charset="0"/>
                <a:ea typeface="IBM Plex Sans" pitchFamily="34" charset="-122"/>
                <a:cs typeface="IBM Plex Sans" pitchFamily="34" charset="-120"/>
              </a:rPr>
              <a:t>Operación continua</a:t>
            </a:r>
            <a:endParaRPr lang="en-US" sz="1600" dirty="0"/>
          </a:p>
        </p:txBody>
      </p:sp>
      <p:sp>
        <p:nvSpPr>
          <p:cNvPr id="19" name="Text 17"/>
          <p:cNvSpPr/>
          <p:nvPr/>
        </p:nvSpPr>
        <p:spPr>
          <a:xfrm>
            <a:off x="8997950" y="2927251"/>
            <a:ext cx="2263013"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66A"/>
                </a:solidFill>
                <a:latin typeface="IBM Plex Sans" pitchFamily="34" charset="0"/>
                <a:ea typeface="IBM Plex Sans" pitchFamily="34" charset="-122"/>
                <a:cs typeface="IBM Plex Sans" pitchFamily="34" charset="-120"/>
              </a:rPr>
              <a:t>Reentrenamiento del modelo en operación y cola de solicitudes priorizada por urgencia</a:t>
            </a:r>
            <a:endParaRPr lang="en-US" sz="1300" dirty="0"/>
          </a:p>
        </p:txBody>
      </p:sp>
      <p:sp>
        <p:nvSpPr>
          <p:cNvPr id="20" name="Shape 18"/>
          <p:cNvSpPr/>
          <p:nvPr/>
        </p:nvSpPr>
        <p:spPr>
          <a:xfrm>
            <a:off x="831850" y="4543723"/>
            <a:ext cx="0" cy="599281"/>
          </a:xfrm>
          <a:prstGeom prst="line">
            <a:avLst/>
          </a:prstGeom>
          <a:noFill/>
          <a:ln w="38100">
            <a:solidFill>
              <a:srgbClr val="17706F"/>
            </a:solidFill>
            <a:prstDash val="solid"/>
          </a:ln>
        </p:spPr>
      </p:sp>
      <p:sp>
        <p:nvSpPr>
          <p:cNvPr id="21" name="Text 19"/>
          <p:cNvSpPr/>
          <p:nvPr/>
        </p:nvSpPr>
        <p:spPr>
          <a:xfrm>
            <a:off x="1003300" y="4594523"/>
            <a:ext cx="105302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263A"/>
                </a:solidFill>
                <a:latin typeface="IBM Plex Sans" pitchFamily="34" charset="0"/>
                <a:ea typeface="IBM Plex Sans" pitchFamily="34" charset="-122"/>
                <a:cs typeface="IBM Plex Sans" pitchFamily="34" charset="-120"/>
              </a:rPr>
              <a:t>Todo esto está fuera del compromiso del proyecto de título (SRS, sección 2.7). Sumar otra especie no exige cambiar el modelo de datos.</a:t>
            </a:r>
            <a:endParaRPr lang="en-US" sz="1400" dirty="0"/>
          </a:p>
        </p:txBody>
      </p:sp>
      <p:sp>
        <p:nvSpPr>
          <p:cNvPr id="22" name="Text 20"/>
          <p:cNvSpPr/>
          <p:nvPr/>
        </p:nvSpPr>
        <p:spPr>
          <a:xfrm>
            <a:off x="812800" y="6238280"/>
            <a:ext cx="2206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SIRFA · Informe de Avance</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B7B"/>
                </a:solidFill>
                <a:latin typeface="IBM Plex Sans" pitchFamily="34" charset="0"/>
                <a:ea typeface="IBM Plex Sans" pitchFamily="34" charset="-122"/>
                <a:cs typeface="IBM Plex Sans" pitchFamily="34" charset="-120"/>
              </a:rPr>
              <a:t>20 / 21</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CC8C4"/>
                </a:solidFill>
                <a:latin typeface="IBM Plex Sans" pitchFamily="34" charset="0"/>
                <a:ea typeface="IBM Plex Sans" pitchFamily="34" charset="-122"/>
                <a:cs typeface="IBM Plex Sans" pitchFamily="34" charset="-120"/>
              </a:rPr>
              <a:t>CONCLUSIONES</a:t>
            </a:r>
            <a:endParaRPr lang="en-US" sz="1200" dirty="0"/>
          </a:p>
        </p:txBody>
      </p:sp>
      <p:sp>
        <p:nvSpPr>
          <p:cNvPr id="3" name="Text 1"/>
          <p:cNvSpPr/>
          <p:nvPr>
            <p:ph type="title"/>
          </p:nvPr>
        </p:nvSpPr>
        <p:spPr>
          <a:xfrm>
            <a:off x="812800" y="1229320"/>
            <a:ext cx="11379200" cy="463550"/>
          </a:xfrm>
          <a:prstGeom prst="rect">
            <a:avLst/>
          </a:prstGeom>
          <a:noFill/>
          <a:ln/>
        </p:spPr>
        <p:txBody>
          <a:bodyPr wrap="square" lIns="0" tIns="0" rIns="0" bIns="0" rtlCol="0" anchor="t">
            <a:normAutofit/>
          </a:bodyPr>
          <a:lstStyle/>
          <a:p>
            <a:pPr algn="l" indent="0" marL="0">
              <a:lnSpc>
                <a:spcPts val="3450"/>
              </a:lnSpc>
              <a:buNone/>
            </a:pPr>
            <a:r>
              <a:rPr lang="en-US" sz="3000" b="0" i="0" dirty="0">
                <a:solidFill>
                  <a:srgbClr val="F6F7F4"/>
                </a:solidFill>
                <a:latin typeface="EB Garamond" pitchFamily="18" charset="0"/>
                <a:ea typeface="EB Garamond" pitchFamily="18" charset="-122"/>
                <a:cs typeface="EB Garamond" pitchFamily="18" charset="-120"/>
              </a:rPr>
              <a:t>Hay un núcleo verificable que funciona; lo sustancial sigue pendiente</a:t>
            </a:r>
            <a:endParaRPr lang="en-US" sz="3000" dirty="0"/>
          </a:p>
        </p:txBody>
      </p:sp>
      <p:sp>
        <p:nvSpPr>
          <p:cNvPr id="4" name="Text 2"/>
          <p:cNvSpPr/>
          <p:nvPr/>
        </p:nvSpPr>
        <p:spPr>
          <a:xfrm>
            <a:off x="870458" y="1870670"/>
            <a:ext cx="10818114" cy="2016621"/>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D3DCE4"/>
                </a:solidFill>
                <a:latin typeface="IBM Plex Sans" pitchFamily="34" charset="0"/>
                <a:ea typeface="IBM Plex Sans" pitchFamily="34" charset="-122"/>
                <a:cs typeface="IBM Plex Sans" pitchFamily="34" charset="-120"/>
              </a:rPr>
              <a:t>Funciona de punta a punta: se sube un genoma y la web muestra calidad, especie, locus K y genes, con PostgreSQL, MongoDB, API y worker en docker compose</a:t>
            </a:r>
            <a:endParaRPr lang="en-US" sz="1600" dirty="0"/>
          </a:p>
          <a:p>
            <a:pPr algn="l" marL="196342" indent="-196342">
              <a:lnSpc>
                <a:spcPts val="2240"/>
              </a:lnSpc>
              <a:buSzPct val="100000"/>
              <a:buChar char="•"/>
            </a:pPr>
            <a:r>
              <a:rPr lang="en-US" sz="1600" dirty="0">
                <a:solidFill>
                  <a:srgbClr val="D3DCE4"/>
                </a:solidFill>
                <a:latin typeface="IBM Plex Sans" pitchFamily="34" charset="0"/>
                <a:ea typeface="IBM Plex Sans" pitchFamily="34" charset="-122"/>
                <a:cs typeface="IBM Plex Sans" pitchFamily="34" charset="-120"/>
              </a:rPr>
              <a:t>Falta lo más grande: el modelo de predicción, el acceso por rol, el tablero y la app móvil; el riesgo principal es el modelo</a:t>
            </a:r>
            <a:endParaRPr lang="en-US" sz="1600" dirty="0"/>
          </a:p>
          <a:p>
            <a:pPr algn="l" marL="196342" indent="-196342">
              <a:lnSpc>
                <a:spcPts val="2240"/>
              </a:lnSpc>
              <a:buSzPct val="100000"/>
              <a:buChar char="•"/>
            </a:pPr>
            <a:r>
              <a:rPr lang="en-US" sz="1600" dirty="0">
                <a:solidFill>
                  <a:srgbClr val="D3DCE4"/>
                </a:solidFill>
                <a:latin typeface="IBM Plex Sans" pitchFamily="34" charset="0"/>
                <a:ea typeface="IBM Plex Sans" pitchFamily="34" charset="-122"/>
                <a:cs typeface="IBM Plex Sans" pitchFamily="34" charset="-120"/>
              </a:rPr>
              <a:t>Se propone priorizar lo comprometido y acotar el alcance, y esos ajustes se conversan con el docente</a:t>
            </a:r>
            <a:endParaRPr lang="en-US" sz="1600" dirty="0"/>
          </a:p>
          <a:p>
            <a:pPr algn="l" marL="196342" indent="-196342">
              <a:lnSpc>
                <a:spcPts val="2240"/>
              </a:lnSpc>
              <a:buSzPct val="100000"/>
              <a:buChar char="•"/>
            </a:pPr>
            <a:r>
              <a:rPr lang="en-US" sz="1600" dirty="0">
                <a:solidFill>
                  <a:srgbClr val="D3DCE4"/>
                </a:solidFill>
                <a:latin typeface="IBM Plex Sans" pitchFamily="34" charset="0"/>
                <a:ea typeface="IBM Plex Sans" pitchFamily="34" charset="-122"/>
                <a:cs typeface="IBM Plex Sans" pitchFamily="34" charset="-120"/>
              </a:rPr>
              <a:t>Competencias que ya se ejercen: requisitos, ciclo de vida, bases de datos relacionales y no relacionales, y gestión del proyecto</a:t>
            </a:r>
            <a:endParaRPr lang="en-US" sz="1600" dirty="0"/>
          </a:p>
        </p:txBody>
      </p:sp>
      <p:sp>
        <p:nvSpPr>
          <p:cNvPr id="5" name="Text 3"/>
          <p:cNvSpPr/>
          <p:nvPr/>
        </p:nvSpPr>
        <p:spPr>
          <a:xfrm>
            <a:off x="812800" y="4953099"/>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3DCE4"/>
                </a:solidFill>
                <a:latin typeface="IBM Plex Sans" pitchFamily="34" charset="0"/>
                <a:ea typeface="IBM Plex Sans" pitchFamily="34" charset="-122"/>
                <a:cs typeface="IBM Plex Sans" pitchFamily="34" charset="-120"/>
              </a:rPr>
              <a:t>SIRFA prioriza los candidatos que vale la pena ensayar. No reemplaza el ensayo de laboratorio ni el juicio clínico.</a:t>
            </a:r>
            <a:endParaRPr lang="en-US" sz="1500" dirty="0"/>
          </a:p>
        </p:txBody>
      </p:sp>
      <p:sp>
        <p:nvSpPr>
          <p:cNvPr id="6" name="Text 4"/>
          <p:cNvSpPr/>
          <p:nvPr/>
        </p:nvSpPr>
        <p:spPr>
          <a:xfrm>
            <a:off x="812800" y="5321399"/>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5CC8C4"/>
                </a:solidFill>
                <a:latin typeface="IBM Plex Sans" pitchFamily="34" charset="0"/>
                <a:ea typeface="IBM Plex Sans" pitchFamily="34" charset="-122"/>
                <a:cs typeface="IBM Plex Sans" pitchFamily="34" charset="-120"/>
              </a:rPr>
              <a:t>Preguntas de la comisión</a:t>
            </a:r>
            <a:endParaRPr lang="en-US" sz="2200" dirty="0"/>
          </a:p>
        </p:txBody>
      </p:sp>
      <p:sp>
        <p:nvSpPr>
          <p:cNvPr id="7" name="Text 5"/>
          <p:cNvSpPr/>
          <p:nvPr/>
        </p:nvSpPr>
        <p:spPr>
          <a:xfrm>
            <a:off x="812800" y="581412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1C1"/>
                </a:solidFill>
                <a:latin typeface="IBM Plex Sans" pitchFamily="34" charset="0"/>
                <a:ea typeface="IBM Plex Sans" pitchFamily="34" charset="-122"/>
                <a:cs typeface="IBM Plex Sans" pitchFamily="34" charset="-120"/>
              </a:rPr>
              <a:t>Johao Ramírez · Capstone PTY4614 / APT122 · Duoc UC, sede San Joaquín</a:t>
            </a:r>
            <a:endParaRPr lang="en-US" sz="1300" dirty="0"/>
          </a:p>
        </p:txBody>
      </p:sp>
    </p:spTree>
  </p:cSld>
  <p:clrMapOvr>
    <a:masterClrMapping/>
  </p:clrMapOvr>
</p:sld>
</file>

<file path=ppt/theme/theme1.xml><?xml version="1.0" encoding="utf-8"?>
<a:theme xmlns:a="http://schemas.openxmlformats.org/drawingml/2006/main" name="SIRFA — Presentación del Informe de Avance">
  <a:themeElements>
    <a:clrScheme name="SIRFA — Presentación del Informe de Avance">
      <a:dk1>
        <a:srgbClr val="12263A"/>
      </a:dk1>
      <a:lt1>
        <a:srgbClr val="F6F7F4"/>
      </a:lt1>
      <a:dk2>
        <a:srgbClr val="4B5A69"/>
      </a:dk2>
      <a:lt2>
        <a:srgbClr val="DFE2E1"/>
      </a:lt2>
      <a:accent1>
        <a:srgbClr val="17706F"/>
      </a:accent1>
      <a:accent2>
        <a:srgbClr val="5CC8C4"/>
      </a:accent2>
      <a:accent3>
        <a:srgbClr val="2E4A66"/>
      </a:accent3>
      <a:accent4>
        <a:srgbClr val="0F5251"/>
      </a:accent4>
      <a:accent5>
        <a:srgbClr val="7A4B00"/>
      </a:accent5>
      <a:accent6>
        <a:srgbClr val="E8A64B"/>
      </a:accent6>
      <a:hlink>
        <a:srgbClr val="0563C1"/>
      </a:hlink>
      <a:folHlink>
        <a:srgbClr val="954F72"/>
      </a:folHlink>
    </a:clrScheme>
    <a:fontScheme name="SIRFA — Presentación del Informe de Avanc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SIRFA — Presentación del Informe de Avance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EB Garamond
Copyright 2017 The EB Garamond Project Authors (https://github.com/octaviopardo/EBGaramond12)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2026-10-30T05:43:59Z</dcterms:created>
  <dcterms:modified xsi:type="dcterms:W3CDTF">2026-10-30T05:43:59Z</dcterms:modified>
</cp:coreProperties>
</file>