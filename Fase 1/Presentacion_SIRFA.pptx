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Pasar rapido al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y la alternativa en una sola lamina. Detenerse en la especificidad del fago: virtud y problema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capacidades + los 5 roles con su funcion. Recalcar el descargo etico al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el objetivo general completo y pausado: abarca el proceso entero, desde el registro del aislado hasta la recomendación validada y la información para vigilancia. Los especificos, de corrido.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los limites evita sobre-prometer.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Relacional y documental conviven: cubre la competencia de BD relacionales y no relacionales.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metodologia es cascada tradicional: analisis, diseño, construccion, pruebas y cierre, cada etapa con su entregable y su puerta de control. Los hitos del curso coinciden con el cierre de etapas: el avance de la semana 10 muestra SRS, diseño y pipeline; el informe final de la semana 15 muestra las pruebas. Mencionar brevemente el riesgo principal, sin extenderse.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cierre que mas pesa ante la comision: cubre las 6 competencias sin forzar ninguna.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profesor pregunta por costos y sostenibilidad. FONIS es el argumento mas fuerte: financiamiento real que ya existe para este perfil exacto de proyecto (salud + digital + MINSAL). Cifras de mercado, no cotizaciones — decirlo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aporte y el descargo etico.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500" b="1">
                <a:solidFill>
                  <a:srgbClr val="043B46"/>
                </a:solidFill>
                <a:latin typeface="Calibri"/>
              </a:rPr>
              <a:t>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SIRFA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5643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02C39A"/>
                </a:solidFill>
                <a:latin typeface="Calibri"/>
              </a:rPr>
              <a:t>Sistema de Recomendación de Fagos frente a Antibiorresistencia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6908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C9DEE1"/>
                </a:solidFill>
                <a:latin typeface="Calibri"/>
              </a:rPr>
              <a:t>Plataforma de apoyo a la selección de bacteriófagos frente a infecciones por bacterias multirresistentes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Johao Ramírez  ·  Ingeniería en Informática  ·  Duoc UC, sede San Joaquín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C9DEE1"/>
                </a:solidFill>
                <a:latin typeface="Calibri"/>
              </a:rPr>
              <a:t>Capstone PTY4614 / APT122  ·  Fase 1: Definición de Proyecto  · 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Cuando ya no queda antibiótico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La resistencia a los antimicrobianos es una de las principales amenazas sanitarias globales según la 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 i="0">
                <a:solidFill>
                  <a:srgbClr val="162A30"/>
                </a:solidFill>
                <a:latin typeface="Calibri"/>
              </a:rPr>
              <a:t>Un paciente hospitalizado contrae una infección. El laboratorio cultiva la bacteria y hace un antibiograma: demora días, y cada vez con más frecuencia concluye que resiste incluso a los carbapenémicos, los antibióticos de último recurso.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51760"/>
            <a:ext cx="3401568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834640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028090"/>
                </a:solidFill>
                <a:latin typeface="Calibri"/>
              </a:rPr>
              <a:t>58 %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493008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62A30"/>
                </a:solidFill>
                <a:latin typeface="Calibri"/>
              </a:rPr>
              <a:t>de los aislados con carbapenemasas
procesados por el ISP fueron Klebsiella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651760"/>
            <a:ext cx="3401568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2834640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028090"/>
                </a:solidFill>
                <a:latin typeface="Calibri"/>
              </a:rPr>
              <a:t>489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2584" y="3493008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62A30"/>
                </a:solidFill>
                <a:latin typeface="Calibri"/>
              </a:rPr>
              <a:t>aislados productores procesados
por el ISP entre 2014 y 2017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2651760"/>
            <a:ext cx="3401568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834640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1" i="0">
                <a:solidFill>
                  <a:srgbClr val="028090"/>
                </a:solidFill>
                <a:latin typeface="Calibri"/>
              </a:rPr>
              <a:t>2012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493008"/>
            <a:ext cx="281635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62A30"/>
                </a:solidFill>
                <a:latin typeface="Calibri"/>
              </a:rPr>
              <a:t>primer caso en Chile de K. pneumoniae
productora de carbapenemasa KPC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89120"/>
            <a:ext cx="10820095" cy="1737360"/>
          </a:xfrm>
          <a:prstGeom prst="roundRect">
            <a:avLst>
              <a:gd name="adj" fmla="val 5500"/>
            </a:avLst>
          </a:prstGeom>
          <a:solidFill>
            <a:srgbClr val="04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90288"/>
            <a:ext cx="99971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02C39A"/>
                </a:solidFill>
                <a:latin typeface="Calibri"/>
              </a:rPr>
              <a:t>La alternativa: terapia fágica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Bacteriófagos —virus que infectan y destruyen bacterias sin afectar células humanas— pero cada uno es extremadamente específico: infecta una o pocas cepas. Hoy encontrar el fago correcto exige ensayar en laboratorio uno por uno. Ya está demostrado que es computacionalmente abordable: un modelo publicado en Nature Communications (2024) predice compatibilidad a nivel de cepa con 93,8 % de acierto en el top-5 — pero es código de investigación, no un sistema utilizable.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Qué es SIRFA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Convierte esa capacidad predictiva en una plataforma operable, con cinco perfiles de usuario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2512999" cy="1572768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" y="173736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121408"/>
            <a:ext cx="2074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Banco de fagos curado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542032"/>
            <a:ext cx="2074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INPHARED, PhageScope, MVP, NCBI Virus.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4831" y="1572768"/>
            <a:ext cx="2512999" cy="1572768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74287" y="173736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4287" y="2121408"/>
            <a:ext cx="2074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Predicción de compatibilidad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4287" y="2542032"/>
            <a:ext cx="2074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Modelo de ML que rankea fagos por probabilidad de infectar la cepa.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1572768"/>
            <a:ext cx="2512999" cy="1572768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3319" y="173736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121408"/>
            <a:ext cx="2074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Ciclo de solicitudes trazable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19" y="2542032"/>
            <a:ext cx="2074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Registro, análisis, validación profesional, emisión, con RBAC y auditoría.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2895" y="1572768"/>
            <a:ext cx="2512999" cy="1572768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12351" y="1737360"/>
            <a:ext cx="310896" cy="31089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2121408"/>
            <a:ext cx="2074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Tablero de cobertura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2351" y="2542032"/>
            <a:ext cx="20740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Brechas terapéuticas y tendencias de resistencia en el tiempo.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10128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Calibri"/>
              </a:rPr>
              <a:t>CINCO ROLES CON PERMISOS DIFERENCIADOS — el control de acceso no es decorativo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11880"/>
            <a:ext cx="10820095" cy="36576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" y="3662172"/>
            <a:ext cx="265176" cy="2651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7864" y="3671316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43B46"/>
                </a:solidFill>
                <a:latin typeface="Calibri"/>
              </a:rPr>
              <a:t>Técnico de laboratorio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680460"/>
            <a:ext cx="7299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62A30"/>
                </a:solidFill>
                <a:latin typeface="Calibri"/>
              </a:rPr>
              <a:t>Registra aislados bacterianos y carga sus genomas.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14216"/>
            <a:ext cx="10820095" cy="36576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6" y="4064508"/>
            <a:ext cx="265176" cy="2651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7864" y="4073652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43B46"/>
                </a:solidFill>
                <a:latin typeface="Calibri"/>
              </a:rPr>
              <a:t>Microbiólogo / curador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082796"/>
            <a:ext cx="7299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62A30"/>
                </a:solidFill>
                <a:latin typeface="Calibri"/>
              </a:rPr>
              <a:t>Cura el banco de fagos, valida predicciones y emite la recomendación.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16552"/>
            <a:ext cx="10820095" cy="36576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" y="4466844"/>
            <a:ext cx="265176" cy="2651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7864" y="447598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43B46"/>
                </a:solidFill>
                <a:latin typeface="Calibri"/>
              </a:rPr>
              <a:t>Clínico solicitante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485132"/>
            <a:ext cx="7299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62A30"/>
                </a:solidFill>
                <a:latin typeface="Calibri"/>
              </a:rPr>
              <a:t>Consulta recomendaciones y recibe alertas — principal usuario móvil.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18888"/>
            <a:ext cx="10820095" cy="36576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6" y="4869180"/>
            <a:ext cx="265176" cy="2651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7864" y="487832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43B46"/>
                </a:solidFill>
                <a:latin typeface="Calibri"/>
              </a:rPr>
              <a:t>Epidemiólogo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4887468"/>
            <a:ext cx="7299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62A30"/>
                </a:solidFill>
                <a:latin typeface="Calibri"/>
              </a:rPr>
              <a:t>Consume el tablero agregado de cobertura y tendencias.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221224"/>
            <a:ext cx="10820095" cy="36576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3816" y="5271516"/>
            <a:ext cx="265176" cy="265176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7864" y="528066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43B46"/>
                </a:solidFill>
                <a:latin typeface="Calibri"/>
              </a:rPr>
              <a:t>Administrador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5289804"/>
            <a:ext cx="7299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62A30"/>
                </a:solidFill>
                <a:latin typeface="Calibri"/>
              </a:rPr>
              <a:t>Gestiona usuarios y roles; revisa el registro de auditoría.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696712"/>
            <a:ext cx="10820095" cy="457200"/>
          </a:xfrm>
          <a:prstGeom prst="roundRect">
            <a:avLst>
              <a:gd name="adj" fmla="val 5500"/>
            </a:avLst>
          </a:prstGeom>
          <a:solidFill>
            <a:srgbClr val="04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806440"/>
            <a:ext cx="10088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2C39A"/>
                </a:solidFill>
                <a:latin typeface="Calibri"/>
              </a:rPr>
              <a:t>SIRFA no diagnostica ni prescribe: entrega candidatos priorizados que un profesional valida antes de emitir.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OBJETIVO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0" i="0">
                <a:solidFill>
                  <a:srgbClr val="FFFFFF"/>
                </a:solidFill>
                <a:latin typeface="Calibri"/>
              </a:rPr>
              <a:t>Diseñar, desarrollar y evaluar una plataforma integral de apoyo a la terapia fágica frente a la antibiorresistencia, que gestione de forma trazable y segura el proceso completo —desde el registro de un aislado bacteriano multirresistente hasta la emisión de una recomendación de bacteriófagos validada por especialistas— y que entregue información agregada para la vigilancia de la resistencia antimicrobiana y la toma de decisiones en salud pública.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OBJETIVOS ESPECÍFICOS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43B4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3374136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OE1 — Especificar los requisitos y diseñar la solución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3904487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43B46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3941063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OE2 — Construir el pipeline genómico y poblar el banco de fagos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471416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43B46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4507992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OE3 — Implementar y evaluar el modelo de predicción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5038344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43B46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5074920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OE4 — Desarrollar la plataforma web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605272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43B4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5641848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OE5 — Desarrollar la app móvil y validar la calidad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Qué entra en el MVP de título y qué queda deliberadamente fuera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227167" cy="34290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587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028090"/>
                </a:solidFill>
                <a:latin typeface="Calibri"/>
              </a:rPr>
              <a:t>Incluido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458708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Banco de fagos curado + pipeline genómico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Modelo de predicción con explicabilidad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Ciclo de solicitudes con RBAC y auditoría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Tablero de cobertura y brechas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App móvil de consulta y alertas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Docker y plan de pruebas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691640"/>
            <a:ext cx="5227167" cy="34290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19"/>
            <a:ext cx="45870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B85042"/>
                </a:solidFill>
                <a:latin typeface="Calibri"/>
              </a:rPr>
              <a:t>Fuera de 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267712"/>
            <a:ext cx="458708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Validación experimental en laboratorio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Diagnóstico o prescripción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Producción o diseño de bacteriófagos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162A30"/>
                </a:solidFill>
                <a:latin typeface="Calibri"/>
              </a:rPr>
              <a:t>•  Datos de pacientes identificables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794760"/>
            <a:ext cx="458708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1">
                <a:solidFill>
                  <a:srgbClr val="5C747C"/>
                </a:solidFill>
                <a:latin typeface="Calibri"/>
              </a:rPr>
              <a:t>Proyecto 100 % computacional. Toda recomendación es una hipótesis a ensayar, no aplicable clínicamente sin validación previa.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257800"/>
            <a:ext cx="10820095" cy="594360"/>
          </a:xfrm>
          <a:prstGeom prst="roundRect">
            <a:avLst>
              <a:gd name="adj" fmla="val 5500"/>
            </a:avLst>
          </a:prstGeom>
          <a:solidFill>
            <a:srgbClr val="04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22392"/>
            <a:ext cx="100885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Foco: Klebsiella pneumoniae — único patógeno con datos públicos verificados a nivel de cepa. Pseudomonas aeruginosa, extensión opcional.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Arquitectura y tecnologías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Plataforma completa: web, móvil, API, servicios y dos motores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536192"/>
            <a:ext cx="3063240" cy="4572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97480" y="16367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Web — Next.js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36192"/>
            <a:ext cx="3063240" cy="4572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36776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Móvil — React Native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31839" y="2011680"/>
            <a:ext cx="128016" cy="164592"/>
          </a:xfrm>
          <a:prstGeom prst="downArrow">
            <a:avLst/>
          </a:prstGeom>
          <a:solidFill>
            <a:srgbClr val="C9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2212848"/>
            <a:ext cx="6629400" cy="548640"/>
          </a:xfrm>
          <a:prstGeom prst="roundRect">
            <a:avLst>
              <a:gd name="adj" fmla="val 5500"/>
            </a:avLst>
          </a:prstGeom>
          <a:solidFill>
            <a:srgbClr val="04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340864"/>
            <a:ext cx="6629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API — FastAPI  ·  JWT  ·  RBAC  ·  Auditoría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31839" y="2788920"/>
            <a:ext cx="128016" cy="164592"/>
          </a:xfrm>
          <a:prstGeom prst="downArrow">
            <a:avLst/>
          </a:prstGeom>
          <a:solidFill>
            <a:srgbClr val="C9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999232"/>
            <a:ext cx="3423818" cy="7772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34238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Pipeline bioinformático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747C"/>
                </a:solidFill>
                <a:latin typeface="Calibri"/>
              </a:rPr>
              <a:t>Biopython · Prodigal · Kaptive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3938" y="2999232"/>
            <a:ext cx="3423818" cy="7772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3938" y="3108960"/>
            <a:ext cx="34238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Motor de predicción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3938" y="338328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747C"/>
                </a:solidFill>
                <a:latin typeface="Calibri"/>
              </a:rPr>
              <a:t>ESM-2 · XGBoost · SHAP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2076" y="2999232"/>
            <a:ext cx="3423818" cy="7772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2076" y="3108960"/>
            <a:ext cx="342381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043B46"/>
                </a:solidFill>
                <a:latin typeface="Calibri"/>
              </a:rPr>
              <a:t>Servicio de analítica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2076" y="338328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747C"/>
                </a:solidFill>
                <a:latin typeface="Calibri"/>
              </a:rPr>
              <a:t>cobertura · brechas · tendencias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31839" y="3858768"/>
            <a:ext cx="128016" cy="164592"/>
          </a:xfrm>
          <a:prstGeom prst="downArrow">
            <a:avLst/>
          </a:prstGeom>
          <a:solidFill>
            <a:srgbClr val="C9DE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97480" y="4059936"/>
            <a:ext cx="3063240" cy="6858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160520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416552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747C"/>
                </a:solidFill>
                <a:latin typeface="Calibri"/>
              </a:rPr>
              <a:t>dominio transaccional y auditoría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59936"/>
            <a:ext cx="3063240" cy="6858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160520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16552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5C747C"/>
                </a:solidFill>
                <a:latin typeface="Calibri"/>
              </a:rPr>
              <a:t>análisis, anotaciones y caché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74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1">
                <a:solidFill>
                  <a:srgbClr val="5C747C"/>
                </a:solidFill>
                <a:latin typeface="Calibri"/>
              </a:rPr>
              <a:t>Ingesta externa por lotes:  INPHARED · PhageScope · MVP · NCBI Virus · BV-BRC   →   banco de fagos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532120"/>
            <a:ext cx="10820095" cy="82296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669280"/>
            <a:ext cx="1018001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162A30"/>
                </a:solidFill>
                <a:latin typeface="Calibri"/>
              </a:rPr>
              <a:t>Stack íntegramente de código abierto: Python 3.12, Docker, pytest, Playwright, GitHub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Metodología y cronograma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Tradicional en cascada: 5 etapas con puerta de control · 18 semanas, 10 de agosto al 12 de diciembre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62A30"/>
                </a:solidFill>
                <a:latin typeface="Calibri"/>
              </a:rPr>
              <a:t>Cada etapa termina en un entregable aprobado antes de iniciar la siguiente: SRS, Documento de Diseño, sistema integrado, Plan de Pruebas y Manual técnico.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Definición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0611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0611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0611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43B46"/>
                </a:solidFill>
                <a:latin typeface="Calibri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0611" y="3429000"/>
            <a:ext cx="9667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043B46"/>
                </a:solidFill>
                <a:latin typeface="Calibri"/>
              </a:rPr>
              <a:t>HITO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5422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5422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S5–6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5422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Análisis (SRS)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0233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0233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S6–7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0233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Diseño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044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5044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S8–10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044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43B46"/>
                </a:solidFill>
                <a:latin typeface="Calibri"/>
              </a:rPr>
              <a:t>Pipeline y banco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044" y="3429000"/>
            <a:ext cx="9667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043B46"/>
                </a:solidFill>
                <a:latin typeface="Calibri"/>
              </a:rPr>
              <a:t>HITO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9855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9855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S11–12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855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Modelo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4666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4666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S13–14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4666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Web y móvil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9477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9477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9477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43B46"/>
                </a:solidFill>
                <a:latin typeface="Calibri"/>
              </a:rPr>
              <a:t>Pruebas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9477" y="3429000"/>
            <a:ext cx="9667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043B46"/>
                </a:solidFill>
                <a:latin typeface="Calibri"/>
              </a:rPr>
              <a:t>HITO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44288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4288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4288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043B46"/>
                </a:solidFill>
                <a:latin typeface="Calibri"/>
              </a:rPr>
              <a:t>Cierre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39100" y="2240280"/>
            <a:ext cx="966795" cy="1691640"/>
          </a:xfrm>
          <a:prstGeom prst="roundRect">
            <a:avLst>
              <a:gd name="adj" fmla="val 5500"/>
            </a:avLst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39100" y="2395728"/>
            <a:ext cx="9667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S17–18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9100" y="2743200"/>
            <a:ext cx="966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043B46"/>
                </a:solidFill>
                <a:latin typeface="Calibri"/>
              </a:rPr>
              <a:t>Comisión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9100" y="3429000"/>
            <a:ext cx="9667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043B46"/>
                </a:solidFill>
                <a:latin typeface="Calibri"/>
              </a:rPr>
              <a:t>HITO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160520"/>
            <a:ext cx="10820095" cy="9144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343400"/>
            <a:ext cx="100885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043B46"/>
                </a:solidFill>
                <a:latin typeface="Calibri"/>
              </a:rPr>
              <a:t>Cuatro evaluaciones sumativas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162A30"/>
                </a:solidFill>
                <a:latin typeface="Calibri"/>
              </a:rPr>
              <a:t>Fase 1 (20 %)  ·  Informe de Avance (20 %)  ·  Informe Final (30 %)  ·  Presentación ante comisión (30 %)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257800"/>
            <a:ext cx="10820095" cy="9144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413248"/>
            <a:ext cx="100885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162A30"/>
                </a:solidFill>
                <a:latin typeface="Calibri"/>
              </a:rPr>
              <a:t>Riesgo principal: costo computacional de los embeddings ESM-2 — mitigado con variantes reducidas del modelo y caché precomputado. Alcance acotado a un patógeno para ser abordable en 14 semanas efectivas.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El proyecto aborda las seis competencias de la carrera, sin forzar ninguna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002536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Ciclo de vida del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313432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Requisitos → diseño → construcción → pruebas → despliegue.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783080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201168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6239" y="2002536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Bases de datos relacionales y no relacionales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6239" y="2313432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PostgreSQL para el dominio; MongoDB para análisis.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81528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31012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300984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Ingeniería de requisitos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611880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Historias de usuario por rol, RF, RNF y SRS.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081528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3310128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6239" y="3300984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Gestión de proyectos, tradicional y ágil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6239" y="3611880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Cascada con etapas, entregables y puertas de control; matriz de riesgos.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79976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60857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599432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Estándares, calidad y 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910328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RBAC, auditoría y anonimización, marco del ISP.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379976"/>
            <a:ext cx="5272887" cy="114300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1607" y="4608576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6239" y="4599432"/>
            <a:ext cx="43127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43B46"/>
                </a:solidFill>
                <a:latin typeface="Calibri"/>
              </a:rPr>
              <a:t>Plataformas y dispositivos móviles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4910328"/>
            <a:ext cx="43127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5C747C"/>
                </a:solidFill>
                <a:latin typeface="Calibri"/>
              </a:rPr>
              <a:t>App de consulta y alertas en React Native.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700" b="1" i="0">
                <a:solidFill>
                  <a:srgbClr val="043B46"/>
                </a:solidFill>
                <a:latin typeface="Calibri"/>
              </a:rPr>
              <a:t>Costos y sostenibilidad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8755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5C747C"/>
                </a:solidFill>
                <a:latin typeface="Calibri"/>
              </a:rPr>
              <a:t>Cuánto vale construirlo, cuánto cuesta mantenerlo, y de dónde saldrían los recursos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526715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810512"/>
            <a:ext cx="20878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$12–18M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31720"/>
            <a:ext cx="2087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CLP — desarrollo del MVP
a precio de mercado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0259" y="1600200"/>
            <a:ext cx="2526715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69715" y="1810512"/>
            <a:ext cx="20878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$7,5–12M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9715" y="2331720"/>
            <a:ext cx="2087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CLP — valor de tu trabajo
en el Proyecto de Título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1600200"/>
            <a:ext cx="2526715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1810512"/>
            <a:ext cx="20878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$2,5–4M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331720"/>
            <a:ext cx="2087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CLP/mes — mantención con
2 profesionales part-time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179" y="1600200"/>
            <a:ext cx="2526715" cy="1554480"/>
          </a:xfrm>
          <a:prstGeom prst="roundRect">
            <a:avLst>
              <a:gd name="adj" fmla="val 55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635" y="1810512"/>
            <a:ext cx="208780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$4–8M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635" y="2331720"/>
            <a:ext cx="20878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62A30"/>
                </a:solidFill>
                <a:latin typeface="Calibri"/>
              </a:rPr>
              <a:t>CLP — puesta en marcha
con hospitales reales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10820095" cy="777240"/>
          </a:xfrm>
          <a:prstGeom prst="roundRect">
            <a:avLst>
              <a:gd name="adj" fmla="val 5500"/>
            </a:avLst>
          </a:prstGeom>
          <a:solidFill>
            <a:srgbClr val="DF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352044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456432"/>
            <a:ext cx="9722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62A30"/>
                </a:solidFill>
                <a:latin typeface="Calibri"/>
              </a:rPr>
              <a:t>Profesionales mínimos, ambos a tiempo parcial: 1 ingeniero backend/ML (mantención y reentrenamiento del modelo) + 1 tecnólogo médico o microbiólogo curador (validación continua y curaduría del banco de fagos).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97680"/>
            <a:ext cx="10820095" cy="1417320"/>
          </a:xfrm>
          <a:prstGeom prst="roundRect">
            <a:avLst>
              <a:gd name="adj" fmla="val 5500"/>
            </a:avLst>
          </a:prstGeom>
          <a:solidFill>
            <a:srgbClr val="043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99971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Financiamiento real: FONIS (ANID + MINSAL)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Fondo de Investigación y Desarrollo en Salud, específico para proyectos de salud con componente digital. Entrega hasta $70–72 millones CLP por proyecto, con una duración de hasta 24 meses — cubre el desarrollo del MVP y cerca de un año y medio de operación con el equipo mínimo.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3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304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EN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Calibri"/>
              </a:rPr>
              <a:t>Convertir una capacidad predictiva ya demostrada en la literatura en una plataforma operable, con la trazabilidad que exige un contexto clínico y la visión de cobertura que un sistema de salud necesita para saber dónde están sus brechas.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4434840"/>
            <a:ext cx="10820095" cy="822960"/>
          </a:xfrm>
          <a:prstGeom prst="roundRect">
            <a:avLst>
              <a:gd name="adj" fmla="val 55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645152"/>
            <a:ext cx="999713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SIRFA prioriza los candidatos que vale la pena ensayar. No reemplaza el ensayo de laboratorio ni el juicio clínico.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62356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C9DEE1"/>
                </a:solidFill>
                <a:latin typeface="Calibri"/>
              </a:rPr>
              <a:t>Johao Ramírez  ·  Capstone PTY4614 / APT122  ·  Duoc UC, sede San Joaquín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